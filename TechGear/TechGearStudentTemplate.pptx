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5" r:id="rId4"/>
  </p:sldMasterIdLst>
  <p:notesMasterIdLst>
    <p:notesMasterId r:id="rId15"/>
  </p:notesMasterIdLst>
  <p:sldIdLst>
    <p:sldId id="256" r:id="rId5"/>
    <p:sldId id="257" r:id="rId6"/>
    <p:sldId id="258" r:id="rId7"/>
    <p:sldId id="259" r:id="rId8"/>
    <p:sldId id="260" r:id="rId9"/>
    <p:sldId id="261" r:id="rId10"/>
    <p:sldId id="262" r:id="rId11"/>
    <p:sldId id="263" r:id="rId12"/>
    <p:sldId id="264" r:id="rId13"/>
    <p:sldId id="265"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AC95EEF-3BEA-154F-682C-44EC6C7DEFCC}" v="164" dt="2025-02-20T14:30:24.974"/>
    <p1510:client id="{78A6263C-519B-1FF2-1217-2E820FCB569E}" v="13" dt="2025-02-20T14:09:13.3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6685" autoAdjust="0"/>
  </p:normalViewPr>
  <p:slideViewPr>
    <p:cSldViewPr snapToGrid="0">
      <p:cViewPr varScale="1">
        <p:scale>
          <a:sx n="75" d="100"/>
          <a:sy n="75" d="100"/>
        </p:scale>
        <p:origin x="378" y="29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F0ACAD-2FDF-44D8-85A2-BF2803DE170C}" type="datetimeFigureOut">
              <a:rPr lang="en-US" smtClean="0"/>
              <a:t>11/9/2025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474E44-92FC-4A6B-B70E-C71180BCC9E7}" type="slidenum">
              <a:rPr lang="en-US" smtClean="0"/>
              <a:t>‹#›</a:t>
            </a:fld>
            <a:endParaRPr lang="en-US"/>
          </a:p>
        </p:txBody>
      </p:sp>
    </p:spTree>
    <p:extLst>
      <p:ext uri="{BB962C8B-B14F-4D97-AF65-F5344CB8AC3E}">
        <p14:creationId xmlns:p14="http://schemas.microsoft.com/office/powerpoint/2010/main" val="2695315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latin typeface="+mn-lt"/>
              </a:rPr>
              <a:t>Hello, my name is Elena and today we discuss </a:t>
            </a:r>
            <a:r>
              <a:rPr lang="en-US" sz="1200" b="0" i="0" kern="1200" dirty="0" err="1">
                <a:solidFill>
                  <a:schemeClr val="tx1"/>
                </a:solidFill>
                <a:effectLst/>
                <a:latin typeface="+mn-lt"/>
                <a:ea typeface="+mn-ea"/>
                <a:cs typeface="+mn-cs"/>
              </a:rPr>
              <a:t>TechGear</a:t>
            </a:r>
            <a:r>
              <a:rPr lang="en-US" sz="1200" b="0" i="0" kern="1200" dirty="0">
                <a:solidFill>
                  <a:schemeClr val="tx1"/>
                </a:solidFill>
                <a:effectLst/>
                <a:latin typeface="+mn-lt"/>
                <a:ea typeface="+mn-ea"/>
                <a:cs typeface="+mn-cs"/>
              </a:rPr>
              <a:t> Inc case. Using the historical sales data, we build predictive models and, with prescriptive analytics, provide actionable insights on how to improve sales and marketing strategies to increase profitability and customer satisfaction.</a:t>
            </a:r>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1</a:t>
            </a:fld>
            <a:endParaRPr lang="en-US"/>
          </a:p>
        </p:txBody>
      </p:sp>
    </p:spTree>
    <p:extLst>
      <p:ext uri="{BB962C8B-B14F-4D97-AF65-F5344CB8AC3E}">
        <p14:creationId xmlns:p14="http://schemas.microsoft.com/office/powerpoint/2010/main" val="25682469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before we begin our analysis, let’s review the historical sales data that we will use. The table represents data for the period from January 2020 to December 2024. The data includes the total number of sales for the month, the amount of money spent on advertising on each social media platform (Facebook and Instagram), and the discount rate applied to sales the month. Based on the average amounts we calculated, we see that the average Facebook ad spend is $297.27, while Instagram ad spend is lower at $192.53. Furthermore, the company offered an average discount of 12.38%. </a:t>
            </a:r>
          </a:p>
        </p:txBody>
      </p:sp>
      <p:sp>
        <p:nvSpPr>
          <p:cNvPr id="4" name="Slide Number Placeholder 3"/>
          <p:cNvSpPr>
            <a:spLocks noGrp="1"/>
          </p:cNvSpPr>
          <p:nvPr>
            <p:ph type="sldNum" sz="quarter" idx="5"/>
          </p:nvPr>
        </p:nvSpPr>
        <p:spPr/>
        <p:txBody>
          <a:bodyPr/>
          <a:lstStyle/>
          <a:p>
            <a:fld id="{05474E44-92FC-4A6B-B70E-C71180BCC9E7}" type="slidenum">
              <a:rPr lang="en-US" smtClean="0"/>
              <a:t>2</a:t>
            </a:fld>
            <a:endParaRPr lang="en-US"/>
          </a:p>
        </p:txBody>
      </p:sp>
    </p:spTree>
    <p:extLst>
      <p:ext uri="{BB962C8B-B14F-4D97-AF65-F5344CB8AC3E}">
        <p14:creationId xmlns:p14="http://schemas.microsoft.com/office/powerpoint/2010/main" val="10866653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Data visualization allows us to see patterns, relationship, and trends that may not be apparent from analyzing raw data alone. To visualize the relationship between sales and each of variable (</a:t>
            </a:r>
            <a:r>
              <a:rPr lang="en-US" sz="1200" b="0" i="0" dirty="0">
                <a:solidFill>
                  <a:srgbClr val="000000"/>
                </a:solidFill>
                <a:effectLst/>
                <a:latin typeface="Arial"/>
                <a:cs typeface="Arial"/>
              </a:rPr>
              <a:t>Facebook ad spend, Instagram ad spend, Discount rate), we created three scatter plots. </a:t>
            </a:r>
            <a:r>
              <a:rPr lang="en-US" sz="1200" b="0" i="0" kern="1200" dirty="0">
                <a:solidFill>
                  <a:schemeClr val="tx1"/>
                </a:solidFill>
                <a:effectLst/>
                <a:latin typeface="+mn-lt"/>
                <a:ea typeface="+mn-ea"/>
                <a:cs typeface="+mn-cs"/>
              </a:rPr>
              <a:t>The first two scatter plots show that Facebook and Instagram ad spend and Number of Sales have a positive linear relationship. The linear relationship of the plotted points indicates moderate spread, suggesting there is a medium or strong correlation, which typically means that as one variable increases, the other variable also tends to increase. The next steps are to calculate the correlation coefficient and conduct a regression analysis to demonstrate the strength of this relationship. </a:t>
            </a:r>
            <a:endParaRPr lang="en-US" sz="1200" b="0" i="0" dirty="0">
              <a:solidFill>
                <a:srgbClr val="000000"/>
              </a:solidFill>
              <a:effectLst/>
              <a:latin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According to the “Discount Rate vs Sales” scatter plot, the relationship between the two variables is weakly correlated. The points are widely dispersed, making a linear trend difficult to detect visually.</a:t>
            </a:r>
          </a:p>
        </p:txBody>
      </p:sp>
      <p:sp>
        <p:nvSpPr>
          <p:cNvPr id="4" name="Slide Number Placeholder 3"/>
          <p:cNvSpPr>
            <a:spLocks noGrp="1"/>
          </p:cNvSpPr>
          <p:nvPr>
            <p:ph type="sldNum" sz="quarter" idx="5"/>
          </p:nvPr>
        </p:nvSpPr>
        <p:spPr/>
        <p:txBody>
          <a:bodyPr/>
          <a:lstStyle/>
          <a:p>
            <a:fld id="{05474E44-92FC-4A6B-B70E-C71180BCC9E7}" type="slidenum">
              <a:rPr lang="en-US" smtClean="0"/>
              <a:t>3</a:t>
            </a:fld>
            <a:endParaRPr lang="en-US"/>
          </a:p>
        </p:txBody>
      </p:sp>
    </p:spTree>
    <p:extLst>
      <p:ext uri="{BB962C8B-B14F-4D97-AF65-F5344CB8AC3E}">
        <p14:creationId xmlns:p14="http://schemas.microsoft.com/office/powerpoint/2010/main" val="31449869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algn="l" rtl="0" fontAlgn="base">
              <a:lnSpc>
                <a:spcPct val="100000"/>
              </a:lnSpc>
            </a:pPr>
            <a:r>
              <a:rPr lang="en-US" sz="2000" b="0" i="0" dirty="0">
                <a:solidFill>
                  <a:srgbClr val="000000"/>
                </a:solidFill>
                <a:effectLst/>
                <a:latin typeface="Arial"/>
                <a:cs typeface="Arial"/>
              </a:rPr>
              <a:t>Develop a simple linear regression model to predict sales based on Facebook ad spend. </a:t>
            </a:r>
          </a:p>
          <a:p>
            <a:pPr marL="493395" lvl="1" algn="l" rtl="0" fontAlgn="base">
              <a:lnSpc>
                <a:spcPct val="100000"/>
              </a:lnSpc>
            </a:pPr>
            <a:r>
              <a:rPr lang="en-US" sz="2000" b="0" i="0" dirty="0">
                <a:solidFill>
                  <a:srgbClr val="000000"/>
                </a:solidFill>
                <a:effectLst/>
                <a:latin typeface="Arial"/>
                <a:cs typeface="Arial"/>
              </a:rPr>
              <a:t>Interpret the slope and R-squared value.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Regression output from Python. </a:t>
            </a:r>
          </a:p>
          <a:p>
            <a:pPr marL="493395" lvl="1" algn="l" rtl="0" fontAlgn="base">
              <a:lnSpc>
                <a:spcPct val="100000"/>
              </a:lnSpc>
            </a:pPr>
            <a:r>
              <a:rPr lang="en-US" sz="2000" b="0" i="0" dirty="0">
                <a:solidFill>
                  <a:srgbClr val="000000"/>
                </a:solidFill>
                <a:effectLst/>
                <a:latin typeface="Arial"/>
                <a:cs typeface="Arial"/>
              </a:rPr>
              <a:t>Summary of your interpretation of the model’s coefficients and R-squared value.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what the slope indicates about the relationship between Facebook ad spend and sales. </a:t>
            </a:r>
          </a:p>
          <a:p>
            <a:pPr marL="493395" lvl="1" algn="l" rtl="0" fontAlgn="base">
              <a:lnSpc>
                <a:spcPct val="100000"/>
              </a:lnSpc>
            </a:pPr>
            <a:r>
              <a:rPr lang="en-US" sz="2000" b="0" i="0" dirty="0">
                <a:solidFill>
                  <a:srgbClr val="000000"/>
                </a:solidFill>
                <a:effectLst/>
                <a:latin typeface="Arial"/>
                <a:cs typeface="Arial"/>
              </a:rPr>
              <a:t>Discuss the R-squared value and what it tells you about the model’s fit.</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4</a:t>
            </a:fld>
            <a:endParaRPr lang="en-US"/>
          </a:p>
        </p:txBody>
      </p:sp>
    </p:spTree>
    <p:extLst>
      <p:ext uri="{BB962C8B-B14F-4D97-AF65-F5344CB8AC3E}">
        <p14:creationId xmlns:p14="http://schemas.microsoft.com/office/powerpoint/2010/main" val="7834087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Assess the fit of your simple linear regression model by analyzing the residuals.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Create a residuals vs. fitted values plot and a Q-Q plot.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Residuals plots and summary of their implications for model reliability.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Explain what the plots reveal about the accuracy and reliability of the model. </a:t>
            </a:r>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5</a:t>
            </a:fld>
            <a:endParaRPr lang="en-US"/>
          </a:p>
        </p:txBody>
      </p:sp>
    </p:spTree>
    <p:extLst>
      <p:ext uri="{BB962C8B-B14F-4D97-AF65-F5344CB8AC3E}">
        <p14:creationId xmlns:p14="http://schemas.microsoft.com/office/powerpoint/2010/main" val="13655752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Develop a multiple linear regression model using Facebook ad spend, Instagram ad spend, and discount rate to predict sales.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Compare this model’s performance to the simple linear regression model.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Regression output and performance comparison.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Key insights about how these variables collectively influence sales.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Interpret the coefficients of the multiple linear regression model.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Discuss how the model improves on the simple linear regression model. </a:t>
            </a:r>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6</a:t>
            </a:fld>
            <a:endParaRPr lang="en-US"/>
          </a:p>
        </p:txBody>
      </p:sp>
    </p:spTree>
    <p:extLst>
      <p:ext uri="{BB962C8B-B14F-4D97-AF65-F5344CB8AC3E}">
        <p14:creationId xmlns:p14="http://schemas.microsoft.com/office/powerpoint/2010/main" val="12789686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Construct both a 3-month moving average forecast and an exponential smoothing forecast for January 2025 (use a smoothing parameter of 0.80).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Choose the most reliable method based on </a:t>
            </a:r>
            <a:r>
              <a:rPr lang="en-US" b="0" i="0" dirty="0" err="1">
                <a:solidFill>
                  <a:srgbClr val="000000"/>
                </a:solidFill>
                <a:effectLst/>
                <a:latin typeface="Arial"/>
                <a:cs typeface="Arial"/>
              </a:rPr>
              <a:t>TechGear’s</a:t>
            </a:r>
            <a:r>
              <a:rPr lang="en-US" b="0" i="0" dirty="0">
                <a:solidFill>
                  <a:srgbClr val="000000"/>
                </a:solidFill>
                <a:effectLst/>
                <a:latin typeface="Arial"/>
                <a:cs typeface="Arial"/>
              </a:rPr>
              <a:t> preference for recent sales trends.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Forecast results from both methods.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Recommendation of the most reliable method.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Justify your choice of forecasting method.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Provide recommendations on how </a:t>
            </a:r>
            <a:r>
              <a:rPr lang="en-US" b="0" i="0" dirty="0" err="1">
                <a:solidFill>
                  <a:srgbClr val="000000"/>
                </a:solidFill>
                <a:effectLst/>
                <a:latin typeface="Arial"/>
                <a:cs typeface="Arial"/>
              </a:rPr>
              <a:t>TechGear</a:t>
            </a:r>
            <a:r>
              <a:rPr lang="en-US" b="0" i="0" dirty="0">
                <a:solidFill>
                  <a:srgbClr val="000000"/>
                </a:solidFill>
                <a:effectLst/>
                <a:latin typeface="Arial"/>
                <a:cs typeface="Arial"/>
              </a:rPr>
              <a:t> can use the forecast to optimize marketing strategies. </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7</a:t>
            </a:fld>
            <a:endParaRPr lang="en-US"/>
          </a:p>
        </p:txBody>
      </p:sp>
    </p:spTree>
    <p:extLst>
      <p:ext uri="{BB962C8B-B14F-4D97-AF65-F5344CB8AC3E}">
        <p14:creationId xmlns:p14="http://schemas.microsoft.com/office/powerpoint/2010/main" val="38370347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a:lnSpc>
                <a:spcPct val="100000"/>
              </a:lnSpc>
            </a:pPr>
            <a:r>
              <a:rPr lang="en-US" sz="2000" dirty="0">
                <a:latin typeface="Arial"/>
                <a:cs typeface="Arial"/>
              </a:rPr>
              <a:t>Build a multiple linear regression model using 5-fold cross-validation to predict future sales. </a:t>
            </a:r>
          </a:p>
          <a:p>
            <a:pPr marL="493395" lvl="1">
              <a:lnSpc>
                <a:spcPct val="100000"/>
              </a:lnSpc>
            </a:pPr>
            <a:r>
              <a:rPr lang="en-US" sz="2000" dirty="0">
                <a:latin typeface="Arial"/>
                <a:cs typeface="Arial"/>
              </a:rPr>
              <a:t>Build a decision tree model using 5-fold cross-validation to predict future sales. </a:t>
            </a:r>
          </a:p>
          <a:p>
            <a:pPr marL="493395" lvl="1">
              <a:lnSpc>
                <a:spcPct val="100000"/>
              </a:lnSpc>
            </a:pPr>
            <a:r>
              <a:rPr lang="en-US" sz="2000" dirty="0">
                <a:latin typeface="Arial"/>
                <a:cs typeface="Arial"/>
              </a:rPr>
              <a:t>Compare the performance of these models using RMSE and determine which one </a:t>
            </a:r>
            <a:r>
              <a:rPr lang="en-US" sz="2000" dirty="0" err="1">
                <a:latin typeface="Arial"/>
                <a:cs typeface="Arial"/>
              </a:rPr>
              <a:t>TechGear</a:t>
            </a:r>
            <a:r>
              <a:rPr lang="en-US" sz="2000" dirty="0">
                <a:latin typeface="Arial"/>
                <a:cs typeface="Arial"/>
              </a:rPr>
              <a:t> should select. Provide a reason for why </a:t>
            </a:r>
            <a:r>
              <a:rPr lang="en-US" sz="2000" dirty="0" err="1">
                <a:latin typeface="Arial"/>
                <a:cs typeface="Arial"/>
              </a:rPr>
              <a:t>TechGear</a:t>
            </a:r>
            <a:r>
              <a:rPr lang="en-US" sz="2000" dirty="0">
                <a:latin typeface="Arial"/>
                <a:cs typeface="Arial"/>
              </a:rPr>
              <a:t> should select the model you are suggesting.  </a:t>
            </a:r>
          </a:p>
          <a:p>
            <a:pPr marL="0" indent="0">
              <a:lnSpc>
                <a:spcPct val="100000"/>
              </a:lnSpc>
              <a:buNone/>
            </a:pPr>
            <a:r>
              <a:rPr lang="en-US" b="1" dirty="0">
                <a:solidFill>
                  <a:srgbClr val="000000"/>
                </a:solidFill>
                <a:latin typeface="Arial"/>
                <a:ea typeface="+mn-lt"/>
                <a:cs typeface="Arial"/>
              </a:rPr>
              <a:t>Slide</a:t>
            </a:r>
            <a:r>
              <a:rPr lang="en-US" b="1" i="0" dirty="0">
                <a:solidFill>
                  <a:srgbClr val="000000"/>
                </a:solidFill>
                <a:effectLst/>
                <a:latin typeface="Arial"/>
                <a:cs typeface="Arial"/>
              </a:rPr>
              <a:t>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buFont typeface="Arial" panose="020B0604020202020204" pitchFamily="34" charset="0"/>
              <a:buChar char="•"/>
            </a:pPr>
            <a:r>
              <a:rPr lang="en-US" sz="2000" b="0" i="0" dirty="0">
                <a:solidFill>
                  <a:srgbClr val="000000"/>
                </a:solidFill>
                <a:effectLst/>
                <a:latin typeface="Arial"/>
                <a:cs typeface="Arial"/>
              </a:rPr>
              <a:t>RMSE comparison and model selection. </a:t>
            </a:r>
          </a:p>
          <a:p>
            <a:pPr marL="493395" lvl="1" fontAlgn="base">
              <a:lnSpc>
                <a:spcPct val="100000"/>
              </a:lnSpc>
            </a:pPr>
            <a:r>
              <a:rPr lang="en-US" sz="2000" b="0" i="0" dirty="0">
                <a:solidFill>
                  <a:srgbClr val="000000"/>
                </a:solidFill>
                <a:effectLst/>
                <a:latin typeface="Arial"/>
                <a:cs typeface="Arial"/>
              </a:rPr>
              <a:t>Key insights from the best model. </a:t>
            </a:r>
            <a:endParaRPr lang="en-US" sz="2000" dirty="0">
              <a:latin typeface="Arial"/>
              <a:cs typeface="Arial"/>
            </a:endParaRP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why you selected the best model. </a:t>
            </a:r>
          </a:p>
          <a:p>
            <a:pPr marL="493395" lvl="1" algn="l" rtl="0" fontAlgn="base">
              <a:lnSpc>
                <a:spcPct val="100000"/>
              </a:lnSpc>
            </a:pPr>
            <a:r>
              <a:rPr lang="en-US" sz="2000" b="0" i="0" dirty="0">
                <a:solidFill>
                  <a:srgbClr val="000000"/>
                </a:solidFill>
                <a:effectLst/>
                <a:latin typeface="Arial"/>
                <a:cs typeface="Arial"/>
              </a:rPr>
              <a:t>Interpret the RMSE and discuss its implications for decision-making. </a:t>
            </a:r>
          </a:p>
          <a:p>
            <a:pPr marL="493395" lvl="1" algn="l" rtl="0" fontAlgn="base">
              <a:lnSpc>
                <a:spcPct val="100000"/>
              </a:lnSpc>
            </a:pPr>
            <a:r>
              <a:rPr lang="en-US" sz="2000" b="0" i="0" dirty="0">
                <a:solidFill>
                  <a:srgbClr val="000000"/>
                </a:solidFill>
                <a:effectLst/>
                <a:latin typeface="Arial"/>
                <a:cs typeface="Arial"/>
              </a:rPr>
              <a:t>Consider the $6,500 threshold and the potential range of actual sales. </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8</a:t>
            </a:fld>
            <a:endParaRPr lang="en-US"/>
          </a:p>
        </p:txBody>
      </p:sp>
    </p:spTree>
    <p:extLst>
      <p:ext uri="{BB962C8B-B14F-4D97-AF65-F5344CB8AC3E}">
        <p14:creationId xmlns:p14="http://schemas.microsoft.com/office/powerpoint/2010/main" val="12584619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fontAlgn="base">
              <a:lnSpc>
                <a:spcPct val="100000"/>
              </a:lnSpc>
            </a:pPr>
            <a:r>
              <a:rPr lang="en-US" sz="2000" dirty="0">
                <a:solidFill>
                  <a:srgbClr val="000000"/>
                </a:solidFill>
                <a:latin typeface="Arial"/>
                <a:ea typeface="+mn-lt"/>
                <a:cs typeface="+mn-lt"/>
              </a:rPr>
              <a:t>Estimate the average and median monthly sales by running </a:t>
            </a:r>
            <a:r>
              <a:rPr lang="en-US" sz="2000" b="0" i="0" dirty="0">
                <a:solidFill>
                  <a:srgbClr val="000000"/>
                </a:solidFill>
                <a:effectLst/>
                <a:latin typeface="Arial"/>
                <a:ea typeface="+mn-lt"/>
                <a:cs typeface="+mn-lt"/>
              </a:rPr>
              <a:t>1,000 simulations</a:t>
            </a:r>
            <a:r>
              <a:rPr lang="en-US" sz="2000" dirty="0">
                <a:solidFill>
                  <a:srgbClr val="000000"/>
                </a:solidFill>
                <a:latin typeface="Arial"/>
                <a:ea typeface="+mn-lt"/>
                <a:cs typeface="+mn-lt"/>
              </a:rPr>
              <a:t>. </a:t>
            </a:r>
          </a:p>
          <a:p>
            <a:pPr lvl="2">
              <a:lnSpc>
                <a:spcPct val="100000"/>
              </a:lnSpc>
              <a:buFont typeface="Wingdings" panose="020B0604020202020204" pitchFamily="34" charset="0"/>
              <a:buChar char="Ø"/>
            </a:pPr>
            <a:r>
              <a:rPr lang="en-US" sz="2000" dirty="0">
                <a:solidFill>
                  <a:srgbClr val="000000"/>
                </a:solidFill>
                <a:latin typeface="Arial"/>
                <a:ea typeface="+mn-lt"/>
                <a:cs typeface="+mn-lt"/>
              </a:rPr>
              <a:t>Assume that daily</a:t>
            </a:r>
            <a:r>
              <a:rPr lang="en-US" sz="2000" b="0" i="0" dirty="0">
                <a:solidFill>
                  <a:srgbClr val="000000"/>
                </a:solidFill>
                <a:effectLst/>
                <a:latin typeface="Arial"/>
                <a:ea typeface="+mn-lt"/>
                <a:cs typeface="+mn-lt"/>
              </a:rPr>
              <a:t> sales </a:t>
            </a:r>
            <a:r>
              <a:rPr lang="en-US" sz="2000" dirty="0">
                <a:solidFill>
                  <a:srgbClr val="000000"/>
                </a:solidFill>
                <a:latin typeface="Arial"/>
                <a:ea typeface="+mn-lt"/>
                <a:cs typeface="+mn-lt"/>
              </a:rPr>
              <a:t>follow </a:t>
            </a:r>
            <a:r>
              <a:rPr lang="en-US" sz="2000" b="0" i="0" dirty="0">
                <a:solidFill>
                  <a:srgbClr val="000000"/>
                </a:solidFill>
                <a:effectLst/>
                <a:latin typeface="Arial"/>
                <a:ea typeface="+mn-lt"/>
                <a:cs typeface="+mn-lt"/>
              </a:rPr>
              <a:t>a uniform distribution </a:t>
            </a:r>
            <a:r>
              <a:rPr lang="en-US" sz="2000" dirty="0">
                <a:solidFill>
                  <a:srgbClr val="000000"/>
                </a:solidFill>
                <a:latin typeface="Arial"/>
                <a:ea typeface="+mn-lt"/>
                <a:cs typeface="+mn-lt"/>
              </a:rPr>
              <a:t>within the minimum and maximum sales values </a:t>
            </a:r>
            <a:r>
              <a:rPr lang="en-US" sz="2000" dirty="0" err="1">
                <a:solidFill>
                  <a:srgbClr val="000000"/>
                </a:solidFill>
                <a:latin typeface="Arial"/>
                <a:ea typeface="+mn-lt"/>
                <a:cs typeface="+mn-lt"/>
              </a:rPr>
              <a:t>TechGear</a:t>
            </a:r>
            <a:r>
              <a:rPr lang="en-US" sz="2000" dirty="0">
                <a:solidFill>
                  <a:srgbClr val="000000"/>
                </a:solidFill>
                <a:latin typeface="Arial"/>
                <a:ea typeface="+mn-lt"/>
                <a:cs typeface="+mn-lt"/>
              </a:rPr>
              <a:t> experienced over the last 60 months.  </a:t>
            </a:r>
            <a:endParaRPr lang="en-US" sz="2000" dirty="0">
              <a:latin typeface="Arial"/>
              <a:cs typeface="Arial"/>
            </a:endParaRPr>
          </a:p>
          <a:p>
            <a:pPr lvl="2">
              <a:lnSpc>
                <a:spcPct val="100000"/>
              </a:lnSpc>
              <a:buFont typeface="Wingdings" panose="020B0604020202020204" pitchFamily="34" charset="0"/>
              <a:buChar char="Ø"/>
            </a:pPr>
            <a:r>
              <a:rPr lang="en-US" sz="2000" dirty="0">
                <a:solidFill>
                  <a:srgbClr val="000000"/>
                </a:solidFill>
                <a:latin typeface="Arial"/>
                <a:ea typeface="+mn-lt"/>
                <a:cs typeface="+mn-lt"/>
              </a:rPr>
              <a:t>Use a </a:t>
            </a:r>
            <a:r>
              <a:rPr lang="en-US" sz="2000" b="0" i="0" dirty="0">
                <a:solidFill>
                  <a:srgbClr val="000000"/>
                </a:solidFill>
                <a:effectLst/>
                <a:latin typeface="Arial"/>
                <a:ea typeface="+mn-lt"/>
                <a:cs typeface="+mn-lt"/>
              </a:rPr>
              <a:t>random seed </a:t>
            </a:r>
            <a:r>
              <a:rPr lang="en-US" sz="2000" dirty="0">
                <a:solidFill>
                  <a:srgbClr val="000000"/>
                </a:solidFill>
                <a:latin typeface="Arial"/>
                <a:ea typeface="+mn-lt"/>
                <a:cs typeface="+mn-lt"/>
              </a:rPr>
              <a:t>value of </a:t>
            </a:r>
            <a:r>
              <a:rPr lang="en-US" sz="2000" b="0" i="0" dirty="0">
                <a:solidFill>
                  <a:srgbClr val="000000"/>
                </a:solidFill>
                <a:effectLst/>
                <a:latin typeface="Arial"/>
                <a:ea typeface="+mn-lt"/>
                <a:cs typeface="+mn-lt"/>
              </a:rPr>
              <a:t>42</a:t>
            </a:r>
            <a:r>
              <a:rPr lang="en-US" sz="2000" dirty="0">
                <a:solidFill>
                  <a:srgbClr val="000000"/>
                </a:solidFill>
                <a:latin typeface="Arial"/>
                <a:ea typeface="+mn-lt"/>
                <a:cs typeface="+mn-lt"/>
              </a:rPr>
              <a:t>. </a:t>
            </a:r>
            <a:endParaRPr lang="en-US" sz="2000" dirty="0">
              <a:latin typeface="Arial"/>
              <a:cs typeface="Arial"/>
            </a:endParaRPr>
          </a:p>
          <a:p>
            <a:pPr marL="493395" lvl="1">
              <a:lnSpc>
                <a:spcPct val="100000"/>
              </a:lnSpc>
            </a:pPr>
            <a:r>
              <a:rPr lang="en-US" sz="2000" dirty="0">
                <a:solidFill>
                  <a:srgbClr val="000000"/>
                </a:solidFill>
                <a:latin typeface="Arial"/>
                <a:ea typeface="+mn-lt"/>
                <a:cs typeface="+mn-lt"/>
              </a:rPr>
              <a:t>Interpret the standard deviation of </a:t>
            </a:r>
            <a:r>
              <a:rPr lang="en-US" sz="2000" b="0" i="0" dirty="0">
                <a:solidFill>
                  <a:srgbClr val="000000"/>
                </a:solidFill>
                <a:effectLst/>
                <a:latin typeface="Arial"/>
                <a:ea typeface="+mn-lt"/>
                <a:cs typeface="+mn-lt"/>
              </a:rPr>
              <a:t>the </a:t>
            </a:r>
            <a:r>
              <a:rPr lang="en-US" sz="2000" dirty="0">
                <a:solidFill>
                  <a:srgbClr val="000000"/>
                </a:solidFill>
                <a:latin typeface="Arial"/>
                <a:ea typeface="+mn-lt"/>
                <a:cs typeface="+mn-lt"/>
              </a:rPr>
              <a:t>simulated </a:t>
            </a:r>
            <a:r>
              <a:rPr lang="en-US" sz="2000" b="0" i="0" dirty="0">
                <a:solidFill>
                  <a:srgbClr val="000000"/>
                </a:solidFill>
                <a:effectLst/>
                <a:latin typeface="Arial"/>
                <a:ea typeface="+mn-lt"/>
                <a:cs typeface="+mn-lt"/>
              </a:rPr>
              <a:t>monthly sales and </a:t>
            </a:r>
            <a:r>
              <a:rPr lang="en-US" sz="2000" dirty="0">
                <a:solidFill>
                  <a:srgbClr val="000000"/>
                </a:solidFill>
                <a:latin typeface="Arial"/>
                <a:ea typeface="+mn-lt"/>
                <a:cs typeface="+mn-lt"/>
              </a:rPr>
              <a:t>explain its significance in understanding </a:t>
            </a:r>
            <a:r>
              <a:rPr lang="en-US" sz="2000" b="0" i="0" dirty="0">
                <a:solidFill>
                  <a:srgbClr val="000000"/>
                </a:solidFill>
                <a:effectLst/>
                <a:latin typeface="Arial"/>
                <a:ea typeface="+mn-lt"/>
                <a:cs typeface="+mn-lt"/>
              </a:rPr>
              <a:t>the </a:t>
            </a:r>
            <a:r>
              <a:rPr lang="en-US" sz="2000" dirty="0">
                <a:solidFill>
                  <a:srgbClr val="000000"/>
                </a:solidFill>
                <a:latin typeface="Arial"/>
                <a:ea typeface="+mn-lt"/>
                <a:cs typeface="+mn-lt"/>
              </a:rPr>
              <a:t>variability of </a:t>
            </a:r>
            <a:r>
              <a:rPr lang="en-US" sz="2000" dirty="0" err="1">
                <a:solidFill>
                  <a:srgbClr val="000000"/>
                </a:solidFill>
                <a:latin typeface="Arial"/>
                <a:ea typeface="+mn-lt"/>
                <a:cs typeface="+mn-lt"/>
              </a:rPr>
              <a:t>TechGear's</a:t>
            </a:r>
            <a:r>
              <a:rPr lang="en-US" sz="2000" dirty="0">
                <a:solidFill>
                  <a:srgbClr val="000000"/>
                </a:solidFill>
                <a:latin typeface="Arial"/>
                <a:ea typeface="+mn-lt"/>
                <a:cs typeface="+mn-lt"/>
              </a:rPr>
              <a:t> sales</a:t>
            </a:r>
            <a:r>
              <a:rPr lang="en-US" sz="2000" b="0" i="0" dirty="0">
                <a:solidFill>
                  <a:srgbClr val="000000"/>
                </a:solidFill>
                <a:effectLst/>
                <a:latin typeface="Arial"/>
                <a:ea typeface="+mn-lt"/>
                <a:cs typeface="+mn-lt"/>
              </a:rPr>
              <a:t>.</a:t>
            </a:r>
            <a:r>
              <a:rPr lang="en-US" sz="2000" dirty="0">
                <a:solidFill>
                  <a:srgbClr val="000000"/>
                </a:solidFill>
                <a:latin typeface="Arial"/>
                <a:ea typeface="+mn-lt"/>
                <a:cs typeface="+mn-lt"/>
              </a:rPr>
              <a:t> </a:t>
            </a:r>
            <a:endParaRPr lang="en-US" sz="2000" dirty="0">
              <a:latin typeface="Arial"/>
              <a:cs typeface="Arial"/>
            </a:endParaRPr>
          </a:p>
          <a:p>
            <a:pPr marL="0" indent="0">
              <a:lnSpc>
                <a:spcPct val="100000"/>
              </a:lnSpc>
              <a:buNone/>
            </a:pPr>
            <a:r>
              <a:rPr lang="en-US" b="1" dirty="0">
                <a:solidFill>
                  <a:srgbClr val="000000"/>
                </a:solidFill>
                <a:latin typeface="Arial"/>
                <a:ea typeface="+mn-lt"/>
                <a:cs typeface="Arial"/>
              </a:rPr>
              <a:t>Slide</a:t>
            </a:r>
            <a:r>
              <a:rPr lang="en-US" b="1" i="0" dirty="0">
                <a:solidFill>
                  <a:srgbClr val="000000"/>
                </a:solidFill>
                <a:effectLst/>
                <a:latin typeface="Arial"/>
                <a:cs typeface="Arial"/>
              </a:rPr>
              <a:t>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Histogram and summary statistics (average, median, and standard deviation). </a:t>
            </a:r>
          </a:p>
          <a:p>
            <a:pPr marL="493395" lvl="1" algn="l" rtl="0" fontAlgn="base">
              <a:lnSpc>
                <a:spcPct val="100000"/>
              </a:lnSpc>
            </a:pPr>
            <a:r>
              <a:rPr lang="en-US" sz="2000" b="0" i="0" dirty="0">
                <a:solidFill>
                  <a:srgbClr val="000000"/>
                </a:solidFill>
                <a:effectLst/>
                <a:latin typeface="Arial"/>
                <a:cs typeface="Arial"/>
              </a:rPr>
              <a:t>Key insights on sales variability.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the significance of the average, median, and standard deviation. </a:t>
            </a:r>
          </a:p>
          <a:p>
            <a:pPr marL="493395" lvl="1" algn="l" rtl="0" fontAlgn="base">
              <a:lnSpc>
                <a:spcPct val="100000"/>
              </a:lnSpc>
            </a:pPr>
            <a:r>
              <a:rPr lang="en-US" sz="2000" b="0" i="0" dirty="0">
                <a:solidFill>
                  <a:srgbClr val="000000"/>
                </a:solidFill>
                <a:effectLst/>
                <a:latin typeface="Arial"/>
                <a:cs typeface="Arial"/>
              </a:rPr>
              <a:t>Provide actionable insights for improving sales, budgeting, and operations based on the simulation.</a:t>
            </a:r>
            <a:r>
              <a:rPr lang="en-US" b="0" i="0" dirty="0">
                <a:solidFill>
                  <a:srgbClr val="000000"/>
                </a:solidFill>
                <a:effectLst/>
                <a:latin typeface="Arial"/>
                <a:cs typeface="Arial"/>
              </a:rPr>
              <a:t> </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9</a:t>
            </a:fld>
            <a:endParaRPr lang="en-US"/>
          </a:p>
        </p:txBody>
      </p:sp>
    </p:spTree>
    <p:extLst>
      <p:ext uri="{BB962C8B-B14F-4D97-AF65-F5344CB8AC3E}">
        <p14:creationId xmlns:p14="http://schemas.microsoft.com/office/powerpoint/2010/main" val="23967213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algn="l" rtl="0" fontAlgn="base">
              <a:lnSpc>
                <a:spcPct val="100000"/>
              </a:lnSpc>
            </a:pPr>
            <a:r>
              <a:rPr lang="en-US" sz="2000" b="0" i="0" dirty="0">
                <a:solidFill>
                  <a:srgbClr val="000000"/>
                </a:solidFill>
                <a:effectLst/>
                <a:latin typeface="Arial"/>
                <a:cs typeface="Arial"/>
              </a:rPr>
              <a:t>Use linear programming to optimize </a:t>
            </a:r>
            <a:r>
              <a:rPr lang="en-US" sz="2000" b="0" i="0" dirty="0" err="1">
                <a:solidFill>
                  <a:srgbClr val="000000"/>
                </a:solidFill>
                <a:effectLst/>
                <a:latin typeface="Arial"/>
                <a:cs typeface="Arial"/>
              </a:rPr>
              <a:t>TechGear’s</a:t>
            </a:r>
            <a:r>
              <a:rPr lang="en-US" sz="2000" b="0" i="0" dirty="0">
                <a:solidFill>
                  <a:srgbClr val="000000"/>
                </a:solidFill>
                <a:effectLst/>
                <a:latin typeface="Arial"/>
                <a:cs typeface="Arial"/>
              </a:rPr>
              <a:t> monthly advertising budget allocation between Facebook and Instagram to maximize sales. </a:t>
            </a:r>
          </a:p>
          <a:p>
            <a:pPr marL="493395" lvl="1" algn="l" rtl="0" fontAlgn="base">
              <a:lnSpc>
                <a:spcPct val="100000"/>
              </a:lnSpc>
            </a:pPr>
            <a:r>
              <a:rPr lang="en-US" sz="2000" b="0" i="0" dirty="0">
                <a:solidFill>
                  <a:srgbClr val="000000"/>
                </a:solidFill>
                <a:effectLst/>
                <a:latin typeface="Arial"/>
                <a:cs typeface="Arial"/>
              </a:rPr>
              <a:t>Ensure you meet all budget and constraint requirements.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Optimal budget allocation and maximum sales result.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the optimal allocation between Facebook and Instagram advertising. </a:t>
            </a:r>
          </a:p>
          <a:p>
            <a:pPr marL="493395" lvl="1" algn="l" rtl="0" fontAlgn="base">
              <a:lnSpc>
                <a:spcPct val="100000"/>
              </a:lnSpc>
            </a:pPr>
            <a:r>
              <a:rPr lang="en-US" sz="2000" b="0" i="0" dirty="0">
                <a:solidFill>
                  <a:srgbClr val="000000"/>
                </a:solidFill>
                <a:effectLst/>
                <a:latin typeface="Arial"/>
                <a:cs typeface="Arial"/>
              </a:rPr>
              <a:t>Describe the maximum achievable sales and how this allocation aligns with business goals. </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10</a:t>
            </a:fld>
            <a:endParaRPr lang="en-US"/>
          </a:p>
        </p:txBody>
      </p:sp>
    </p:spTree>
    <p:extLst>
      <p:ext uri="{BB962C8B-B14F-4D97-AF65-F5344CB8AC3E}">
        <p14:creationId xmlns:p14="http://schemas.microsoft.com/office/powerpoint/2010/main" val="10741887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11/9/2025</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0911363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11/9/2025</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869682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11/9/2025</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0253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11/9/2025</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5783741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11/9/2025</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645421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11/9/2025</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830006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11/9/2025</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097713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11/9/2025</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1426292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11/9/2025</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288716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11/9/2025</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0920479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11/9/2025</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5494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11/9/2025</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3538561"/>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78" r:id="rId6"/>
    <p:sldLayoutId id="2147483689" r:id="rId7"/>
    <p:sldLayoutId id="2147483688" r:id="rId8"/>
    <p:sldLayoutId id="2147483687" r:id="rId9"/>
    <p:sldLayoutId id="2147483686" r:id="rId10"/>
    <p:sldLayoutId id="2147483679"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Interlocking cogs">
            <a:extLst>
              <a:ext uri="{FF2B5EF4-FFF2-40B4-BE49-F238E27FC236}">
                <a16:creationId xmlns:a16="http://schemas.microsoft.com/office/drawing/2014/main" id="{DB87C39E-B58E-E5EF-F5CB-7F5EEFC106C2}"/>
              </a:ext>
            </a:extLst>
          </p:cNvPr>
          <p:cNvPicPr>
            <a:picLocks noChangeAspect="1"/>
          </p:cNvPicPr>
          <p:nvPr/>
        </p:nvPicPr>
        <p:blipFill>
          <a:blip r:embed="rId3"/>
          <a:srcRect t="9527" b="15473"/>
          <a:stretch/>
        </p:blipFill>
        <p:spPr>
          <a:xfrm>
            <a:off x="20" y="10"/>
            <a:ext cx="12191979" cy="6857990"/>
          </a:xfrm>
          <a:prstGeom prst="rect">
            <a:avLst/>
          </a:prstGeom>
        </p:spPr>
      </p:pic>
      <p:sp>
        <p:nvSpPr>
          <p:cNvPr id="11" name="Rectangle 10">
            <a:extLst>
              <a:ext uri="{FF2B5EF4-FFF2-40B4-BE49-F238E27FC236}">
                <a16:creationId xmlns:a16="http://schemas.microsoft.com/office/drawing/2014/main" id="{122AB34F-E75C-451A-8410-05B6C249E9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648484" y="0"/>
            <a:ext cx="8543515" cy="6858000"/>
          </a:xfrm>
          <a:prstGeom prst="rect">
            <a:avLst/>
          </a:prstGeom>
          <a:gradFill flip="none" rotWithShape="1">
            <a:gsLst>
              <a:gs pos="0">
                <a:srgbClr val="000000">
                  <a:alpha val="0"/>
                </a:srgbClr>
              </a:gs>
              <a:gs pos="58000">
                <a:srgbClr val="000000">
                  <a:alpha val="55000"/>
                </a:srgbClr>
              </a:gs>
              <a:gs pos="93000">
                <a:srgbClr val="000000">
                  <a:alpha val="64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E2614BD-D3A2-4069-0D04-409A6B9C756C}"/>
              </a:ext>
            </a:extLst>
          </p:cNvPr>
          <p:cNvSpPr>
            <a:spLocks noGrp="1"/>
          </p:cNvSpPr>
          <p:nvPr>
            <p:ph type="ctrTitle"/>
          </p:nvPr>
        </p:nvSpPr>
        <p:spPr>
          <a:xfrm>
            <a:off x="5484764" y="914400"/>
            <a:ext cx="6046245" cy="3427867"/>
          </a:xfrm>
        </p:spPr>
        <p:txBody>
          <a:bodyPr anchor="t">
            <a:normAutofit/>
          </a:bodyPr>
          <a:lstStyle/>
          <a:p>
            <a:pPr algn="r"/>
            <a:r>
              <a:rPr lang="en-US" dirty="0" err="1">
                <a:solidFill>
                  <a:srgbClr val="FFFFFF"/>
                </a:solidFill>
              </a:rPr>
              <a:t>TechGear</a:t>
            </a:r>
            <a:r>
              <a:rPr lang="en-US" dirty="0">
                <a:solidFill>
                  <a:srgbClr val="FFFFFF"/>
                </a:solidFill>
              </a:rPr>
              <a:t> Inc. Business Data Analysis</a:t>
            </a:r>
          </a:p>
        </p:txBody>
      </p:sp>
      <p:sp>
        <p:nvSpPr>
          <p:cNvPr id="3" name="Subtitle 2">
            <a:extLst>
              <a:ext uri="{FF2B5EF4-FFF2-40B4-BE49-F238E27FC236}">
                <a16:creationId xmlns:a16="http://schemas.microsoft.com/office/drawing/2014/main" id="{BABB2D4A-1810-9952-9F64-524BF54E6599}"/>
              </a:ext>
            </a:extLst>
          </p:cNvPr>
          <p:cNvSpPr>
            <a:spLocks noGrp="1"/>
          </p:cNvSpPr>
          <p:nvPr>
            <p:ph type="subTitle" idx="1"/>
          </p:nvPr>
        </p:nvSpPr>
        <p:spPr>
          <a:xfrm>
            <a:off x="6589835" y="5253051"/>
            <a:ext cx="4941173" cy="1337872"/>
          </a:xfrm>
        </p:spPr>
        <p:txBody>
          <a:bodyPr anchor="t">
            <a:normAutofit/>
          </a:bodyPr>
          <a:lstStyle/>
          <a:p>
            <a:pPr algn="r">
              <a:lnSpc>
                <a:spcPct val="120000"/>
              </a:lnSpc>
            </a:pPr>
            <a:r>
              <a:rPr lang="en-US" sz="1700" dirty="0">
                <a:solidFill>
                  <a:srgbClr val="FFFFFF"/>
                </a:solidFill>
              </a:rPr>
              <a:t>BDA Unit 6 Touchstone</a:t>
            </a:r>
          </a:p>
          <a:p>
            <a:pPr algn="r">
              <a:lnSpc>
                <a:spcPct val="120000"/>
              </a:lnSpc>
            </a:pPr>
            <a:r>
              <a:rPr lang="en-US" sz="1700" dirty="0">
                <a:solidFill>
                  <a:srgbClr val="FFFFFF"/>
                </a:solidFill>
              </a:rPr>
              <a:t>ELENA PONOMAREVA</a:t>
            </a:r>
          </a:p>
          <a:p>
            <a:pPr algn="r">
              <a:lnSpc>
                <a:spcPct val="120000"/>
              </a:lnSpc>
            </a:pPr>
            <a:r>
              <a:rPr lang="en-US" sz="1700" dirty="0">
                <a:solidFill>
                  <a:srgbClr val="FFFFFF"/>
                </a:solidFill>
              </a:rPr>
              <a:t>11/11/2025</a:t>
            </a:r>
          </a:p>
        </p:txBody>
      </p:sp>
      <p:cxnSp>
        <p:nvCxnSpPr>
          <p:cNvPr id="13" name="Straight Connector 12">
            <a:extLst>
              <a:ext uri="{FF2B5EF4-FFF2-40B4-BE49-F238E27FC236}">
                <a16:creationId xmlns:a16="http://schemas.microsoft.com/office/drawing/2014/main" id="{97CC2FE6-3AD0-4131-B4BC-1F4D65E25E1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438375" y="4861206"/>
            <a:ext cx="978862"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9140873"/>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1500"/>
                                  </p:stCondLst>
                                  <p:iterate>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7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FAC75-872E-C916-E7FD-7CCFCE69AAC7}"/>
              </a:ext>
            </a:extLst>
          </p:cNvPr>
          <p:cNvSpPr>
            <a:spLocks noGrp="1"/>
          </p:cNvSpPr>
          <p:nvPr>
            <p:ph type="title"/>
          </p:nvPr>
        </p:nvSpPr>
        <p:spPr>
          <a:xfrm>
            <a:off x="650535" y="252806"/>
            <a:ext cx="10890929" cy="1097280"/>
          </a:xfrm>
        </p:spPr>
        <p:txBody>
          <a:bodyPr>
            <a:noAutofit/>
          </a:bodyPr>
          <a:lstStyle/>
          <a:p>
            <a:r>
              <a:rPr lang="en-US" b="1" i="0" dirty="0">
                <a:solidFill>
                  <a:srgbClr val="0F4761"/>
                </a:solidFill>
                <a:effectLst/>
                <a:latin typeface="Arial"/>
                <a:cs typeface="Arial"/>
              </a:rPr>
              <a:t>Data Exploration and Summary</a:t>
            </a:r>
            <a:endParaRPr lang="en-US" dirty="0">
              <a:latin typeface="Arial"/>
              <a:cs typeface="Arial"/>
            </a:endParaRPr>
          </a:p>
        </p:txBody>
      </p:sp>
      <p:pic>
        <p:nvPicPr>
          <p:cNvPr id="7" name="Picture 6">
            <a:extLst>
              <a:ext uri="{FF2B5EF4-FFF2-40B4-BE49-F238E27FC236}">
                <a16:creationId xmlns:a16="http://schemas.microsoft.com/office/drawing/2014/main" id="{E1FF8C53-CC14-DCA2-ADF9-7BD1D315E294}"/>
              </a:ext>
            </a:extLst>
          </p:cNvPr>
          <p:cNvPicPr>
            <a:picLocks noChangeAspect="1"/>
          </p:cNvPicPr>
          <p:nvPr/>
        </p:nvPicPr>
        <p:blipFill>
          <a:blip r:embed="rId3"/>
          <a:stretch>
            <a:fillRect/>
          </a:stretch>
        </p:blipFill>
        <p:spPr>
          <a:xfrm>
            <a:off x="650535" y="1469829"/>
            <a:ext cx="11158673" cy="4593514"/>
          </a:xfrm>
          <a:prstGeom prst="rect">
            <a:avLst/>
          </a:prstGeom>
        </p:spPr>
      </p:pic>
    </p:spTree>
    <p:extLst>
      <p:ext uri="{BB962C8B-B14F-4D97-AF65-F5344CB8AC3E}">
        <p14:creationId xmlns:p14="http://schemas.microsoft.com/office/powerpoint/2010/main" val="3660653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DB039-BB64-631C-2BCA-CE0F6D79F5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5E04CD-232B-9EF8-BA47-2AE6EA02D55B}"/>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Visualizing Relationships</a:t>
            </a:r>
            <a:endParaRPr lang="en-US" sz="4200" dirty="0">
              <a:latin typeface="Arial"/>
              <a:cs typeface="Arial"/>
            </a:endParaRPr>
          </a:p>
        </p:txBody>
      </p:sp>
      <p:pic>
        <p:nvPicPr>
          <p:cNvPr id="11" name="Picture 10">
            <a:extLst>
              <a:ext uri="{FF2B5EF4-FFF2-40B4-BE49-F238E27FC236}">
                <a16:creationId xmlns:a16="http://schemas.microsoft.com/office/drawing/2014/main" id="{65253D5F-619F-5737-A710-559F400B7FF0}"/>
              </a:ext>
            </a:extLst>
          </p:cNvPr>
          <p:cNvPicPr>
            <a:picLocks noChangeAspect="1"/>
          </p:cNvPicPr>
          <p:nvPr/>
        </p:nvPicPr>
        <p:blipFill>
          <a:blip r:embed="rId3"/>
          <a:stretch>
            <a:fillRect/>
          </a:stretch>
        </p:blipFill>
        <p:spPr>
          <a:xfrm>
            <a:off x="197982" y="1717010"/>
            <a:ext cx="3848579" cy="3029161"/>
          </a:xfrm>
          <a:prstGeom prst="rect">
            <a:avLst/>
          </a:prstGeom>
        </p:spPr>
      </p:pic>
      <p:pic>
        <p:nvPicPr>
          <p:cNvPr id="13" name="Picture 12">
            <a:extLst>
              <a:ext uri="{FF2B5EF4-FFF2-40B4-BE49-F238E27FC236}">
                <a16:creationId xmlns:a16="http://schemas.microsoft.com/office/drawing/2014/main" id="{4F251E3D-BDBE-408E-AAD9-4EB5DD3FF64E}"/>
              </a:ext>
            </a:extLst>
          </p:cNvPr>
          <p:cNvPicPr>
            <a:picLocks noChangeAspect="1"/>
          </p:cNvPicPr>
          <p:nvPr/>
        </p:nvPicPr>
        <p:blipFill>
          <a:blip r:embed="rId4"/>
          <a:stretch>
            <a:fillRect/>
          </a:stretch>
        </p:blipFill>
        <p:spPr>
          <a:xfrm>
            <a:off x="4172463" y="1717009"/>
            <a:ext cx="3907663" cy="3042298"/>
          </a:xfrm>
          <a:prstGeom prst="rect">
            <a:avLst/>
          </a:prstGeom>
        </p:spPr>
      </p:pic>
      <p:pic>
        <p:nvPicPr>
          <p:cNvPr id="15" name="Picture 14">
            <a:extLst>
              <a:ext uri="{FF2B5EF4-FFF2-40B4-BE49-F238E27FC236}">
                <a16:creationId xmlns:a16="http://schemas.microsoft.com/office/drawing/2014/main" id="{49AF35C2-8BE8-AA15-4260-118FB6D24114}"/>
              </a:ext>
            </a:extLst>
          </p:cNvPr>
          <p:cNvPicPr>
            <a:picLocks noChangeAspect="1"/>
          </p:cNvPicPr>
          <p:nvPr/>
        </p:nvPicPr>
        <p:blipFill>
          <a:blip r:embed="rId5"/>
          <a:stretch>
            <a:fillRect/>
          </a:stretch>
        </p:blipFill>
        <p:spPr>
          <a:xfrm>
            <a:off x="8117776" y="1717009"/>
            <a:ext cx="3876242" cy="3029161"/>
          </a:xfrm>
          <a:prstGeom prst="rect">
            <a:avLst/>
          </a:prstGeom>
        </p:spPr>
      </p:pic>
    </p:spTree>
    <p:extLst>
      <p:ext uri="{BB962C8B-B14F-4D97-AF65-F5344CB8AC3E}">
        <p14:creationId xmlns:p14="http://schemas.microsoft.com/office/powerpoint/2010/main" val="2885826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D2FA5-5280-9486-DD3B-01B1ADD081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183B7-8F8B-E7D5-45A9-A7BD49BAA002}"/>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Simple Linear Regression</a:t>
            </a:r>
            <a:endParaRPr lang="en-US" sz="4200" dirty="0">
              <a:latin typeface="Arial"/>
              <a:cs typeface="Arial"/>
            </a:endParaRPr>
          </a:p>
        </p:txBody>
      </p:sp>
      <p:pic>
        <p:nvPicPr>
          <p:cNvPr id="5" name="Picture 4">
            <a:extLst>
              <a:ext uri="{FF2B5EF4-FFF2-40B4-BE49-F238E27FC236}">
                <a16:creationId xmlns:a16="http://schemas.microsoft.com/office/drawing/2014/main" id="{0036C824-7C9A-CCD3-6E25-4FF7AA260659}"/>
              </a:ext>
            </a:extLst>
          </p:cNvPr>
          <p:cNvPicPr>
            <a:picLocks noChangeAspect="1"/>
          </p:cNvPicPr>
          <p:nvPr/>
        </p:nvPicPr>
        <p:blipFill>
          <a:blip r:embed="rId3"/>
          <a:stretch>
            <a:fillRect/>
          </a:stretch>
        </p:blipFill>
        <p:spPr>
          <a:xfrm>
            <a:off x="5682073" y="1039091"/>
            <a:ext cx="6302109" cy="3947814"/>
          </a:xfrm>
          <a:prstGeom prst="rect">
            <a:avLst/>
          </a:prstGeom>
        </p:spPr>
      </p:pic>
      <p:sp>
        <p:nvSpPr>
          <p:cNvPr id="6" name="TextBox 5">
            <a:extLst>
              <a:ext uri="{FF2B5EF4-FFF2-40B4-BE49-F238E27FC236}">
                <a16:creationId xmlns:a16="http://schemas.microsoft.com/office/drawing/2014/main" id="{E9084D92-A356-A2D1-19A0-D309E788F237}"/>
              </a:ext>
            </a:extLst>
          </p:cNvPr>
          <p:cNvSpPr txBox="1"/>
          <p:nvPr/>
        </p:nvSpPr>
        <p:spPr>
          <a:xfrm>
            <a:off x="454170" y="1350086"/>
            <a:ext cx="4969885" cy="2585323"/>
          </a:xfrm>
          <a:prstGeom prst="rect">
            <a:avLst/>
          </a:prstGeom>
          <a:noFill/>
        </p:spPr>
        <p:txBody>
          <a:bodyPr wrap="square" rtlCol="0">
            <a:spAutoFit/>
          </a:bodyPr>
          <a:lstStyle/>
          <a:p>
            <a:r>
              <a:rPr lang="en-US" b="1" dirty="0">
                <a:latin typeface="Calibri"/>
                <a:cs typeface="Calibri"/>
              </a:rPr>
              <a:t>Simple Linear Regression:</a:t>
            </a:r>
          </a:p>
          <a:p>
            <a:r>
              <a:rPr lang="en-US" b="1" u="sng" dirty="0">
                <a:latin typeface="Calibri"/>
                <a:cs typeface="Calibri"/>
              </a:rPr>
              <a:t>y = 1141.28 + 12.86 * x</a:t>
            </a:r>
            <a:r>
              <a:rPr lang="en-US" b="1" dirty="0">
                <a:latin typeface="Calibri"/>
                <a:cs typeface="Calibri"/>
              </a:rPr>
              <a:t> , </a:t>
            </a:r>
          </a:p>
          <a:p>
            <a:r>
              <a:rPr lang="en-US" b="1" dirty="0">
                <a:latin typeface="Calibri"/>
                <a:cs typeface="Calibri"/>
              </a:rPr>
              <a:t>where x – Facebook ad spend</a:t>
            </a:r>
          </a:p>
          <a:p>
            <a:r>
              <a:rPr lang="en-US" b="1" dirty="0">
                <a:latin typeface="Calibri"/>
                <a:cs typeface="Calibri"/>
              </a:rPr>
              <a:t>            y – Predicted sales</a:t>
            </a:r>
          </a:p>
          <a:p>
            <a:endParaRPr lang="en-US" b="1" dirty="0">
              <a:latin typeface="Calibri"/>
              <a:cs typeface="Calibri"/>
            </a:endParaRPr>
          </a:p>
          <a:p>
            <a:r>
              <a:rPr lang="en-US" b="1" dirty="0">
                <a:latin typeface="Calibri"/>
                <a:cs typeface="Calibri"/>
              </a:rPr>
              <a:t>Example:</a:t>
            </a:r>
          </a:p>
          <a:p>
            <a:r>
              <a:rPr lang="en-US" b="1" dirty="0">
                <a:solidFill>
                  <a:srgbClr val="C00000"/>
                </a:solidFill>
                <a:latin typeface="Calibri"/>
                <a:cs typeface="Calibri"/>
              </a:rPr>
              <a:t>Facebook ad spend </a:t>
            </a:r>
            <a:r>
              <a:rPr lang="en-US" b="1" dirty="0">
                <a:latin typeface="Calibri"/>
                <a:cs typeface="Calibri"/>
              </a:rPr>
              <a:t>is $</a:t>
            </a:r>
            <a:r>
              <a:rPr lang="en-US" b="1" dirty="0">
                <a:solidFill>
                  <a:srgbClr val="C00000"/>
                </a:solidFill>
                <a:latin typeface="Calibri"/>
                <a:cs typeface="Calibri"/>
              </a:rPr>
              <a:t>300</a:t>
            </a:r>
            <a:r>
              <a:rPr lang="en-US" b="1" dirty="0">
                <a:latin typeface="Calibri"/>
                <a:cs typeface="Calibri"/>
              </a:rPr>
              <a:t>, then y = 1141.28 + 12.86 * 300 </a:t>
            </a:r>
          </a:p>
          <a:p>
            <a:r>
              <a:rPr lang="en-US" b="1" dirty="0">
                <a:solidFill>
                  <a:srgbClr val="C00000"/>
                </a:solidFill>
                <a:latin typeface="Calibri"/>
                <a:cs typeface="Calibri"/>
              </a:rPr>
              <a:t>Sales </a:t>
            </a:r>
            <a:r>
              <a:rPr lang="en-US" b="1" dirty="0">
                <a:latin typeface="Calibri"/>
                <a:cs typeface="Calibri"/>
              </a:rPr>
              <a:t>is </a:t>
            </a:r>
            <a:r>
              <a:rPr lang="en-US" b="1" dirty="0">
                <a:solidFill>
                  <a:srgbClr val="C00000"/>
                </a:solidFill>
                <a:latin typeface="Calibri"/>
                <a:cs typeface="Calibri"/>
              </a:rPr>
              <a:t>$4,999.28</a:t>
            </a:r>
            <a:endParaRPr lang="en-US" dirty="0"/>
          </a:p>
        </p:txBody>
      </p:sp>
    </p:spTree>
    <p:extLst>
      <p:ext uri="{BB962C8B-B14F-4D97-AF65-F5344CB8AC3E}">
        <p14:creationId xmlns:p14="http://schemas.microsoft.com/office/powerpoint/2010/main" val="6469109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A808C-018D-1CAF-D865-3031B6B8D6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3975F7-8688-DAAD-BF4E-98F709ED83B1}"/>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Assessing Model Fit (Question 4) </a:t>
            </a:r>
            <a:endParaRPr lang="en-US" sz="4200">
              <a:latin typeface="Arial"/>
              <a:cs typeface="Arial"/>
            </a:endParaRPr>
          </a:p>
        </p:txBody>
      </p:sp>
      <p:sp>
        <p:nvSpPr>
          <p:cNvPr id="3" name="Content Placeholder 2">
            <a:extLst>
              <a:ext uri="{FF2B5EF4-FFF2-40B4-BE49-F238E27FC236}">
                <a16:creationId xmlns:a16="http://schemas.microsoft.com/office/drawing/2014/main" id="{FBC1A516-E7D7-7996-34EC-1EF6D3F179EC}"/>
              </a:ext>
            </a:extLst>
          </p:cNvPr>
          <p:cNvSpPr>
            <a:spLocks noGrp="1"/>
          </p:cNvSpPr>
          <p:nvPr>
            <p:ph idx="1"/>
          </p:nvPr>
        </p:nvSpPr>
        <p:spPr>
          <a:xfrm>
            <a:off x="640080" y="1656678"/>
            <a:ext cx="10890928" cy="4542954"/>
          </a:xfrm>
        </p:spPr>
        <p:txBody>
          <a:bodyPr vert="horz" lIns="91440" tIns="45720" rIns="91440" bIns="45720" rtlCol="0" anchor="t">
            <a:normAutofit/>
          </a:bodyPr>
          <a:lstStyle/>
          <a:p>
            <a:pPr marL="0" indent="0" algn="l" rtl="0" fontAlgn="base">
              <a:lnSpc>
                <a:spcPct val="100000"/>
              </a:lnSpc>
              <a:buNone/>
            </a:pPr>
            <a:endParaRPr lang="en-US" dirty="0">
              <a:latin typeface="Arial"/>
              <a:cs typeface="Arial"/>
            </a:endParaRPr>
          </a:p>
        </p:txBody>
      </p:sp>
    </p:spTree>
    <p:extLst>
      <p:ext uri="{BB962C8B-B14F-4D97-AF65-F5344CB8AC3E}">
        <p14:creationId xmlns:p14="http://schemas.microsoft.com/office/powerpoint/2010/main" val="10653624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ED5CD-769B-D6CE-34F6-4029299D4F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2C4A98-1711-FB6C-596C-037E0232C901}"/>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Multiple Linear Regression (Question 5)</a:t>
            </a:r>
            <a:endParaRPr lang="en-US" sz="4200">
              <a:latin typeface="Arial"/>
              <a:cs typeface="Arial"/>
            </a:endParaRPr>
          </a:p>
        </p:txBody>
      </p:sp>
      <p:sp>
        <p:nvSpPr>
          <p:cNvPr id="3" name="Content Placeholder 2">
            <a:extLst>
              <a:ext uri="{FF2B5EF4-FFF2-40B4-BE49-F238E27FC236}">
                <a16:creationId xmlns:a16="http://schemas.microsoft.com/office/drawing/2014/main" id="{FA014B1F-10EA-038B-B978-D58EFB549452}"/>
              </a:ext>
            </a:extLst>
          </p:cNvPr>
          <p:cNvSpPr>
            <a:spLocks noGrp="1"/>
          </p:cNvSpPr>
          <p:nvPr>
            <p:ph idx="1"/>
          </p:nvPr>
        </p:nvSpPr>
        <p:spPr>
          <a:xfrm>
            <a:off x="640080" y="1656678"/>
            <a:ext cx="10890928" cy="4542954"/>
          </a:xfrm>
        </p:spPr>
        <p:txBody>
          <a:bodyPr vert="horz" lIns="91440" tIns="45720" rIns="91440" bIns="45720" rtlCol="0" anchor="t">
            <a:normAutofit/>
          </a:bodyPr>
          <a:lstStyle/>
          <a:p>
            <a:pPr marL="0" indent="0" algn="l" rtl="0" fontAlgn="base">
              <a:lnSpc>
                <a:spcPct val="100000"/>
              </a:lnSpc>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1283174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CDBAE-4CE1-A60B-5CDD-665F263B79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10BC04-43E0-6BFA-4863-909FD177214D}"/>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Forecasting (Question 6) </a:t>
            </a:r>
            <a:endParaRPr lang="en-US" sz="4200">
              <a:latin typeface="Arial"/>
              <a:cs typeface="Arial"/>
            </a:endParaRPr>
          </a:p>
        </p:txBody>
      </p:sp>
      <p:sp>
        <p:nvSpPr>
          <p:cNvPr id="3" name="Content Placeholder 2">
            <a:extLst>
              <a:ext uri="{FF2B5EF4-FFF2-40B4-BE49-F238E27FC236}">
                <a16:creationId xmlns:a16="http://schemas.microsoft.com/office/drawing/2014/main" id="{83CA3881-D965-D811-EFB5-978351C473AB}"/>
              </a:ext>
            </a:extLst>
          </p:cNvPr>
          <p:cNvSpPr>
            <a:spLocks noGrp="1"/>
          </p:cNvSpPr>
          <p:nvPr>
            <p:ph idx="1"/>
          </p:nvPr>
        </p:nvSpPr>
        <p:spPr>
          <a:xfrm>
            <a:off x="640080" y="1656678"/>
            <a:ext cx="10890928" cy="4542954"/>
          </a:xfrm>
        </p:spPr>
        <p:txBody>
          <a:bodyPr vert="horz" lIns="91440" tIns="45720" rIns="91440" bIns="45720" rtlCol="0" anchor="t">
            <a:normAutofit/>
          </a:bodyPr>
          <a:lstStyle/>
          <a:p>
            <a:pPr marL="0" indent="0" algn="l" rtl="0" fontAlgn="base">
              <a:lnSpc>
                <a:spcPct val="100000"/>
              </a:lnSpc>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28438166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CEEF9-34E5-034C-C9BE-16EB75DA3D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FCA468-CF4A-2C03-ADBE-5460A2FC66D1}"/>
              </a:ext>
            </a:extLst>
          </p:cNvPr>
          <p:cNvSpPr>
            <a:spLocks noGrp="1"/>
          </p:cNvSpPr>
          <p:nvPr>
            <p:ph type="title"/>
          </p:nvPr>
        </p:nvSpPr>
        <p:spPr>
          <a:xfrm>
            <a:off x="650535" y="252806"/>
            <a:ext cx="10890929" cy="1097280"/>
          </a:xfrm>
        </p:spPr>
        <p:txBody>
          <a:bodyPr/>
          <a:lstStyle/>
          <a:p>
            <a:r>
              <a:rPr lang="en-US" sz="4200" b="1" i="0" dirty="0">
                <a:solidFill>
                  <a:srgbClr val="0F4761"/>
                </a:solidFill>
                <a:effectLst/>
                <a:latin typeface="Arial"/>
                <a:cs typeface="Arial"/>
              </a:rPr>
              <a:t>Machine Learning Models (Question 7)</a:t>
            </a:r>
            <a:r>
              <a:rPr lang="en-US" sz="4200" b="0" i="0" dirty="0">
                <a:solidFill>
                  <a:srgbClr val="0F4761"/>
                </a:solidFill>
                <a:effectLst/>
                <a:latin typeface="Arial"/>
                <a:cs typeface="Arial"/>
              </a:rPr>
              <a:t> </a:t>
            </a:r>
            <a:endParaRPr lang="en-US" sz="4200">
              <a:latin typeface="Arial"/>
              <a:cs typeface="Arial"/>
            </a:endParaRPr>
          </a:p>
        </p:txBody>
      </p:sp>
      <p:sp>
        <p:nvSpPr>
          <p:cNvPr id="3" name="Content Placeholder 2">
            <a:extLst>
              <a:ext uri="{FF2B5EF4-FFF2-40B4-BE49-F238E27FC236}">
                <a16:creationId xmlns:a16="http://schemas.microsoft.com/office/drawing/2014/main" id="{7D703B0E-4DAF-8511-D024-1FB3DC5B8CD3}"/>
              </a:ext>
            </a:extLst>
          </p:cNvPr>
          <p:cNvSpPr>
            <a:spLocks noGrp="1"/>
          </p:cNvSpPr>
          <p:nvPr>
            <p:ph idx="1"/>
          </p:nvPr>
        </p:nvSpPr>
        <p:spPr>
          <a:xfrm>
            <a:off x="640080" y="1423162"/>
            <a:ext cx="10890928" cy="4542954"/>
          </a:xfrm>
        </p:spPr>
        <p:txBody>
          <a:bodyPr vert="horz" lIns="91440" tIns="45720" rIns="91440" bIns="45720" rtlCol="0" anchor="t">
            <a:noAutofit/>
          </a:bodyPr>
          <a:lstStyle/>
          <a:p>
            <a:pPr marL="264795" lvl="1" indent="0" algn="l" rtl="0" fontAlgn="base">
              <a:lnSpc>
                <a:spcPts val="1657"/>
              </a:lnSpc>
              <a:spcAft>
                <a:spcPts val="800"/>
              </a:spcAft>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36576875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029A8-0BB4-17F8-39CF-FAE49EFB3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CC9E1-EC3E-93DF-4DCA-DBC09F2B95BA}"/>
              </a:ext>
            </a:extLst>
          </p:cNvPr>
          <p:cNvSpPr>
            <a:spLocks noGrp="1"/>
          </p:cNvSpPr>
          <p:nvPr>
            <p:ph type="title"/>
          </p:nvPr>
        </p:nvSpPr>
        <p:spPr>
          <a:xfrm>
            <a:off x="650535" y="252806"/>
            <a:ext cx="10890929" cy="1097280"/>
          </a:xfrm>
        </p:spPr>
        <p:txBody>
          <a:bodyPr/>
          <a:lstStyle/>
          <a:p>
            <a:r>
              <a:rPr lang="en-US" sz="4200" b="1" i="0" dirty="0">
                <a:solidFill>
                  <a:srgbClr val="0F4761"/>
                </a:solidFill>
                <a:effectLst/>
                <a:latin typeface="Arial"/>
                <a:cs typeface="Arial"/>
              </a:rPr>
              <a:t>Monte Carlo Simulation (Question 8)</a:t>
            </a:r>
            <a:r>
              <a:rPr lang="en-US" sz="4200" b="0" i="0" dirty="0">
                <a:solidFill>
                  <a:srgbClr val="0F4761"/>
                </a:solidFill>
                <a:effectLst/>
                <a:latin typeface="Arial"/>
                <a:cs typeface="Arial"/>
              </a:rPr>
              <a:t> </a:t>
            </a:r>
            <a:endParaRPr lang="en-US" sz="4200">
              <a:latin typeface="Arial"/>
              <a:cs typeface="Arial"/>
            </a:endParaRPr>
          </a:p>
        </p:txBody>
      </p:sp>
      <p:sp>
        <p:nvSpPr>
          <p:cNvPr id="3" name="Content Placeholder 2">
            <a:extLst>
              <a:ext uri="{FF2B5EF4-FFF2-40B4-BE49-F238E27FC236}">
                <a16:creationId xmlns:a16="http://schemas.microsoft.com/office/drawing/2014/main" id="{F9C1A13D-58E7-2F5E-68B1-96686E3E48FA}"/>
              </a:ext>
            </a:extLst>
          </p:cNvPr>
          <p:cNvSpPr>
            <a:spLocks noGrp="1"/>
          </p:cNvSpPr>
          <p:nvPr>
            <p:ph idx="1"/>
          </p:nvPr>
        </p:nvSpPr>
        <p:spPr>
          <a:xfrm>
            <a:off x="652370" y="1349420"/>
            <a:ext cx="10890928" cy="4542954"/>
          </a:xfrm>
        </p:spPr>
        <p:txBody>
          <a:bodyPr vert="horz" lIns="91440" tIns="45720" rIns="91440" bIns="45720" rtlCol="0" anchor="t">
            <a:noAutofit/>
          </a:bodyPr>
          <a:lstStyle/>
          <a:p>
            <a:pPr marL="0" indent="0" algn="l" rtl="0" fontAlgn="base">
              <a:lnSpc>
                <a:spcPct val="100000"/>
              </a:lnSpc>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1838215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A69BA-9F59-BE48-87F0-0B76E453E0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A1E80-8CDA-E1D2-F0F0-21947CB4E275}"/>
              </a:ext>
            </a:extLst>
          </p:cNvPr>
          <p:cNvSpPr>
            <a:spLocks noGrp="1"/>
          </p:cNvSpPr>
          <p:nvPr>
            <p:ph type="title"/>
          </p:nvPr>
        </p:nvSpPr>
        <p:spPr>
          <a:xfrm>
            <a:off x="650535" y="252806"/>
            <a:ext cx="10890929" cy="1097280"/>
          </a:xfrm>
        </p:spPr>
        <p:txBody>
          <a:bodyPr/>
          <a:lstStyle/>
          <a:p>
            <a:r>
              <a:rPr lang="en-US" sz="4200" b="1" i="0" dirty="0">
                <a:solidFill>
                  <a:srgbClr val="0F4761"/>
                </a:solidFill>
                <a:effectLst/>
                <a:latin typeface="Arial"/>
                <a:cs typeface="Arial"/>
              </a:rPr>
              <a:t>Linear Programming (Question 9)</a:t>
            </a:r>
            <a:r>
              <a:rPr lang="en-US" sz="4200" b="0" i="0" dirty="0">
                <a:solidFill>
                  <a:srgbClr val="0F4761"/>
                </a:solidFill>
                <a:effectLst/>
                <a:latin typeface="Arial"/>
                <a:cs typeface="Arial"/>
              </a:rPr>
              <a:t> </a:t>
            </a:r>
            <a:endParaRPr lang="en-US" sz="4200">
              <a:latin typeface="Arial"/>
              <a:cs typeface="Arial"/>
            </a:endParaRPr>
          </a:p>
        </p:txBody>
      </p:sp>
      <p:sp>
        <p:nvSpPr>
          <p:cNvPr id="3" name="Content Placeholder 2">
            <a:extLst>
              <a:ext uri="{FF2B5EF4-FFF2-40B4-BE49-F238E27FC236}">
                <a16:creationId xmlns:a16="http://schemas.microsoft.com/office/drawing/2014/main" id="{D793DEB0-17DC-2C7B-84BD-3D65DBBC3635}"/>
              </a:ext>
            </a:extLst>
          </p:cNvPr>
          <p:cNvSpPr>
            <a:spLocks noGrp="1"/>
          </p:cNvSpPr>
          <p:nvPr>
            <p:ph idx="1"/>
          </p:nvPr>
        </p:nvSpPr>
        <p:spPr>
          <a:xfrm>
            <a:off x="640080" y="1656678"/>
            <a:ext cx="10890928" cy="4542954"/>
          </a:xfrm>
        </p:spPr>
        <p:txBody>
          <a:bodyPr vert="horz" lIns="91440" tIns="45720" rIns="91440" bIns="45720" rtlCol="0" anchor="t">
            <a:normAutofit/>
          </a:bodyPr>
          <a:lstStyle/>
          <a:p>
            <a:pPr marL="0" indent="0" algn="l" rtl="0" fontAlgn="base">
              <a:lnSpc>
                <a:spcPts val="1657"/>
              </a:lnSpc>
              <a:spcAft>
                <a:spcPts val="800"/>
              </a:spcAft>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1504570548"/>
      </p:ext>
    </p:extLst>
  </p:cSld>
  <p:clrMapOvr>
    <a:masterClrMapping/>
  </p:clrMapOvr>
</p:sld>
</file>

<file path=ppt/theme/theme1.xml><?xml version="1.0" encoding="utf-8"?>
<a:theme xmlns:a="http://schemas.openxmlformats.org/drawingml/2006/main" name="DashVTI">
  <a:themeElements>
    <a:clrScheme name="AnalogousFromLightSeedLeftStep">
      <a:dk1>
        <a:srgbClr val="000000"/>
      </a:dk1>
      <a:lt1>
        <a:srgbClr val="FFFFFF"/>
      </a:lt1>
      <a:dk2>
        <a:srgbClr val="242A41"/>
      </a:dk2>
      <a:lt2>
        <a:srgbClr val="E8E7E2"/>
      </a:lt2>
      <a:accent1>
        <a:srgbClr val="96A0C6"/>
      </a:accent1>
      <a:accent2>
        <a:srgbClr val="7FA4BA"/>
      </a:accent2>
      <a:accent3>
        <a:srgbClr val="82ACAA"/>
      </a:accent3>
      <a:accent4>
        <a:srgbClr val="77AE94"/>
      </a:accent4>
      <a:accent5>
        <a:srgbClr val="83AF89"/>
      </a:accent5>
      <a:accent6>
        <a:srgbClr val="88AF77"/>
      </a:accent6>
      <a:hlink>
        <a:srgbClr val="8E8256"/>
      </a:hlink>
      <a:folHlink>
        <a:srgbClr val="7F7F7F"/>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cb71b97d-9a65-4f5a-80e4-73af0d9029ad">
      <Terms xmlns="http://schemas.microsoft.com/office/infopath/2007/PartnerControls"/>
    </lcf76f155ced4ddcb4097134ff3c332f>
    <TaxCatchAll xmlns="c7bf0040-ac83-4da7-b072-3c1b65a214b3" xsi:nil="true"/>
    <Status xmlns="cb71b97d-9a65-4f5a-80e4-73af0d9029ad" xsi:nil="true"/>
    <Tag xmlns="cb71b97d-9a65-4f5a-80e4-73af0d9029ad" xsi:nil="true"/>
    <Year xmlns="cb71b97d-9a65-4f5a-80e4-73af0d9029a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DD084E42E705654B9CF1FB4D1B6F86C3" ma:contentTypeVersion="19" ma:contentTypeDescription="Create a new document." ma:contentTypeScope="" ma:versionID="537e09eec9479df6b3b9277a829eeea6">
  <xsd:schema xmlns:xsd="http://www.w3.org/2001/XMLSchema" xmlns:xs="http://www.w3.org/2001/XMLSchema" xmlns:p="http://schemas.microsoft.com/office/2006/metadata/properties" xmlns:ns2="cb71b97d-9a65-4f5a-80e4-73af0d9029ad" xmlns:ns3="c7bf0040-ac83-4da7-b072-3c1b65a214b3" targetNamespace="http://schemas.microsoft.com/office/2006/metadata/properties" ma:root="true" ma:fieldsID="954325e78edeaac226e03e3e0adada46" ns2:_="" ns3:_="">
    <xsd:import namespace="cb71b97d-9a65-4f5a-80e4-73af0d9029ad"/>
    <xsd:import namespace="c7bf0040-ac83-4da7-b072-3c1b65a214b3"/>
    <xsd:element name="properties">
      <xsd:complexType>
        <xsd:sequence>
          <xsd:element name="documentManagement">
            <xsd:complexType>
              <xsd:all>
                <xsd:element ref="ns2:Year" minOccurs="0"/>
                <xsd:element ref="ns2:MediaServiceMetadata" minOccurs="0"/>
                <xsd:element ref="ns2:MediaServiceFastMetadata"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3:SharedWithUsers" minOccurs="0"/>
                <xsd:element ref="ns3:SharedWithDetails" minOccurs="0"/>
                <xsd:element ref="ns2:MediaServiceOCR" minOccurs="0"/>
                <xsd:element ref="ns2:MediaServiceLocation" minOccurs="0"/>
                <xsd:element ref="ns2:Tag" minOccurs="0"/>
                <xsd:element ref="ns2:Statu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b71b97d-9a65-4f5a-80e4-73af0d9029ad" elementFormDefault="qualified">
    <xsd:import namespace="http://schemas.microsoft.com/office/2006/documentManagement/types"/>
    <xsd:import namespace="http://schemas.microsoft.com/office/infopath/2007/PartnerControls"/>
    <xsd:element name="Year" ma:index="8" nillable="true" ma:displayName="Year" ma:format="Dropdown" ma:internalName="Year">
      <xsd:simpleType>
        <xsd:restriction base="dms:Text">
          <xsd:maxLength value="255"/>
        </xsd:restriction>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6ee6c04-f50c-48a2-8aad-e6d71caf9b84" ma:termSetId="09814cd3-568e-fe90-9814-8d621ff8fb84" ma:anchorId="fba54fb3-c3e1-fe81-a776-ca4b69148c4d" ma:open="true" ma:isKeyword="false">
      <xsd:complexType>
        <xsd:sequence>
          <xsd:element ref="pc:Terms" minOccurs="0" maxOccurs="1"/>
        </xsd:sequence>
      </xsd:complexType>
    </xsd:element>
    <xsd:element name="MediaServiceOCR" ma:index="21"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Tag" ma:index="23" nillable="true" ma:displayName="Tag" ma:format="Dropdown" ma:indexed="true" ma:internalName="Tag">
      <xsd:simpleType>
        <xsd:restriction base="dms:Choice">
          <xsd:enumeration value="RGE"/>
          <xsd:enumeration value="Short Course"/>
          <xsd:enumeration value="Full Course"/>
        </xsd:restriction>
      </xsd:simpleType>
    </xsd:element>
    <xsd:element name="Status" ma:index="24" nillable="true" ma:displayName="Status" ma:format="Dropdown" ma:indexed="true" ma:internalName="Status">
      <xsd:simpleType>
        <xsd:restriction base="dms:Choice">
          <xsd:enumeration value="In Development"/>
          <xsd:enumeration value="Active"/>
          <xsd:enumeration value="In Review"/>
          <xsd:enumeration value="Closed"/>
        </xsd:restrictio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bf0040-ac83-4da7-b072-3c1b65a214b3"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bb1ddd0b-41e2-44a6-9b01-a6fda7cf7cf7}" ma:internalName="TaxCatchAll" ma:showField="CatchAllData" ma:web="c7bf0040-ac83-4da7-b072-3c1b65a214b3">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08E5A13-F6C9-49DB-8950-2EE5509C8A8B}">
  <ds:schemaRefs>
    <ds:schemaRef ds:uri="http://www.w3.org/XML/1998/namespace"/>
    <ds:schemaRef ds:uri="http://schemas.microsoft.com/office/2006/metadata/properties"/>
    <ds:schemaRef ds:uri="http://purl.org/dc/dcmitype/"/>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http://purl.org/dc/terms/"/>
    <ds:schemaRef ds:uri="c7bf0040-ac83-4da7-b072-3c1b65a214b3"/>
    <ds:schemaRef ds:uri="cb71b97d-9a65-4f5a-80e4-73af0d9029ad"/>
  </ds:schemaRefs>
</ds:datastoreItem>
</file>

<file path=customXml/itemProps2.xml><?xml version="1.0" encoding="utf-8"?>
<ds:datastoreItem xmlns:ds="http://schemas.openxmlformats.org/officeDocument/2006/customXml" ds:itemID="{2F184BDE-BCF0-4A4C-AF39-985C7EC788E7}">
  <ds:schemaRefs>
    <ds:schemaRef ds:uri="http://schemas.microsoft.com/sharepoint/v3/contenttype/forms"/>
  </ds:schemaRefs>
</ds:datastoreItem>
</file>

<file path=customXml/itemProps3.xml><?xml version="1.0" encoding="utf-8"?>
<ds:datastoreItem xmlns:ds="http://schemas.openxmlformats.org/officeDocument/2006/customXml" ds:itemID="{FE333F42-FFBA-4D39-81DC-C33E6413E0B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b71b97d-9a65-4f5a-80e4-73af0d9029ad"/>
    <ds:schemaRef ds:uri="c7bf0040-ac83-4da7-b072-3c1b65a214b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TM03457496[[fn=Parallax]]</Template>
  <TotalTime>1461</TotalTime>
  <Words>1041</Words>
  <Application>Microsoft Office PowerPoint</Application>
  <PresentationFormat>Widescreen</PresentationFormat>
  <Paragraphs>100</Paragraphs>
  <Slides>10</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Calibri</vt:lpstr>
      <vt:lpstr>Grandview Display</vt:lpstr>
      <vt:lpstr>Wingdings</vt:lpstr>
      <vt:lpstr>DashVTI</vt:lpstr>
      <vt:lpstr>TechGear Inc. Business Data Analysis</vt:lpstr>
      <vt:lpstr>Data Exploration and Summary</vt:lpstr>
      <vt:lpstr>Visualizing Relationships</vt:lpstr>
      <vt:lpstr>Simple Linear Regression</vt:lpstr>
      <vt:lpstr>Assessing Model Fit (Question 4) </vt:lpstr>
      <vt:lpstr>Multiple Linear Regression (Question 5)</vt:lpstr>
      <vt:lpstr>Forecasting (Question 6) </vt:lpstr>
      <vt:lpstr>Machine Learning Models (Question 7) </vt:lpstr>
      <vt:lpstr>Monte Carlo Simulation (Question 8) </vt:lpstr>
      <vt:lpstr>Linear Programming (Question 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Estremera, Melissa</dc:creator>
  <cp:lastModifiedBy>Elena P</cp:lastModifiedBy>
  <cp:revision>122</cp:revision>
  <dcterms:created xsi:type="dcterms:W3CDTF">2025-02-19T20:00:41Z</dcterms:created>
  <dcterms:modified xsi:type="dcterms:W3CDTF">2025-11-09T20:46:59Z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0x010100DD084E42E705654B9CF1FB4D1B6F86C3</vt:lpwstr>
  </property>
  <property fmtid="{D5CDD505-2E9C-101B-9397-08002B2CF9AE}" pid="3" name="MediaServiceImageTags">
    <vt:lpwstr/>
  </property>
</Properties>
</file>