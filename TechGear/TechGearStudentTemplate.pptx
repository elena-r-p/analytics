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4"/>
  </p:sldMasterIdLst>
  <p:notesMasterIdLst>
    <p:notesMasterId r:id="rId15"/>
  </p:notes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C95EEF-3BEA-154F-682C-44EC6C7DEFCC}" v="164" dt="2025-02-20T14:30:24.974"/>
    <p1510:client id="{78A6263C-519B-1FF2-1217-2E820FCB569E}" v="13" dt="2025-02-20T14:09:13.3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7864" autoAdjust="0"/>
  </p:normalViewPr>
  <p:slideViewPr>
    <p:cSldViewPr snapToGrid="0">
      <p:cViewPr varScale="1">
        <p:scale>
          <a:sx n="53" d="100"/>
          <a:sy n="53" d="100"/>
        </p:scale>
        <p:origin x="68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0ACAD-2FDF-44D8-85A2-BF2803DE170C}"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74E44-92FC-4A6B-B70E-C71180BCC9E7}" type="slidenum">
              <a:rPr lang="en-US" smtClean="0"/>
              <a:t>‹#›</a:t>
            </a:fld>
            <a:endParaRPr lang="en-US"/>
          </a:p>
        </p:txBody>
      </p:sp>
    </p:spTree>
    <p:extLst>
      <p:ext uri="{BB962C8B-B14F-4D97-AF65-F5344CB8AC3E}">
        <p14:creationId xmlns:p14="http://schemas.microsoft.com/office/powerpoint/2010/main" val="2695315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Hello, my name is Elena and today we discuss </a:t>
            </a:r>
            <a:r>
              <a:rPr lang="en-US" sz="1200" b="0" i="0" kern="1200" dirty="0" err="1">
                <a:solidFill>
                  <a:schemeClr val="tx1"/>
                </a:solidFill>
                <a:effectLst/>
                <a:latin typeface="+mn-lt"/>
                <a:ea typeface="+mn-ea"/>
                <a:cs typeface="+mn-cs"/>
              </a:rPr>
              <a:t>TechGear</a:t>
            </a:r>
            <a:r>
              <a:rPr lang="en-US" sz="1200" b="0" i="0" kern="1200" dirty="0">
                <a:solidFill>
                  <a:schemeClr val="tx1"/>
                </a:solidFill>
                <a:effectLst/>
                <a:latin typeface="+mn-lt"/>
                <a:ea typeface="+mn-ea"/>
                <a:cs typeface="+mn-cs"/>
              </a:rPr>
              <a:t> Inc case. Using the historical sales data, we build predictive models and, with prescriptive analytics, provide actionable insights on how to improve sales and marketing strategies to increase profitability and customer satisfaction.</a:t>
            </a:r>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1</a:t>
            </a:fld>
            <a:endParaRPr lang="en-US"/>
          </a:p>
        </p:txBody>
      </p:sp>
    </p:spTree>
    <p:extLst>
      <p:ext uri="{BB962C8B-B14F-4D97-AF65-F5344CB8AC3E}">
        <p14:creationId xmlns:p14="http://schemas.microsoft.com/office/powerpoint/2010/main" val="2568246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we begin our analysis, let’s review the historical sales data that we will use. The table represents data for the period from January 2020 to December 2024. The data includes the total number of sales for the month, the amount of money spent on advertising on each social media platform (Facebook and Instagram), and the discount rate applied to sales the month. Based on the average amounts we calculated, we see that the average Facebook ad spend is $297.27, while Instagram ad spend is lower at $192.53. Furthermore, the company offered an average discount of 12.38%. </a:t>
            </a:r>
          </a:p>
        </p:txBody>
      </p:sp>
      <p:sp>
        <p:nvSpPr>
          <p:cNvPr id="4" name="Slide Number Placeholder 3"/>
          <p:cNvSpPr>
            <a:spLocks noGrp="1"/>
          </p:cNvSpPr>
          <p:nvPr>
            <p:ph type="sldNum" sz="quarter" idx="5"/>
          </p:nvPr>
        </p:nvSpPr>
        <p:spPr/>
        <p:txBody>
          <a:bodyPr/>
          <a:lstStyle/>
          <a:p>
            <a:fld id="{05474E44-92FC-4A6B-B70E-C71180BCC9E7}" type="slidenum">
              <a:rPr lang="en-US" smtClean="0"/>
              <a:t>2</a:t>
            </a:fld>
            <a:endParaRPr lang="en-US"/>
          </a:p>
        </p:txBody>
      </p:sp>
    </p:spTree>
    <p:extLst>
      <p:ext uri="{BB962C8B-B14F-4D97-AF65-F5344CB8AC3E}">
        <p14:creationId xmlns:p14="http://schemas.microsoft.com/office/powerpoint/2010/main" val="1086665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visualization allows us to see patterns, relationship, and trends that may not be apparent from analyzing raw data alone. To visualize the relationship between sales and each of variable (</a:t>
            </a:r>
            <a:r>
              <a:rPr lang="en-US" sz="1200" b="0" i="0" dirty="0">
                <a:solidFill>
                  <a:srgbClr val="000000"/>
                </a:solidFill>
                <a:effectLst/>
                <a:latin typeface="Arial"/>
                <a:cs typeface="Arial"/>
              </a:rPr>
              <a:t>Facebook ad spend, Instagram ad spend, Discount rate), we created three scatter plots. </a:t>
            </a:r>
            <a:r>
              <a:rPr lang="en-US" sz="1200" b="0" i="0" kern="1200" dirty="0">
                <a:solidFill>
                  <a:schemeClr val="tx1"/>
                </a:solidFill>
                <a:effectLst/>
                <a:latin typeface="+mn-lt"/>
                <a:ea typeface="+mn-ea"/>
                <a:cs typeface="+mn-cs"/>
              </a:rPr>
              <a:t>The first two scatter plots show that Facebook and Instagram ad spend and Number of Sales have a positive linear relationship. The linear relationship of the plotted points indicates moderate spread, suggesting there is a medium or strong correlation, which typically means that as one variable increases, the other variable also tends to increase. The next steps are to calculate the correlation coefficient and conduct a regression analysis to demonstrate the strength of this relationship. </a:t>
            </a:r>
            <a:endParaRPr lang="en-US" sz="1200" b="0" i="0" dirty="0">
              <a:solidFill>
                <a:srgbClr val="000000"/>
              </a:solidFill>
              <a:effectLst/>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According to the “Discount Rate vs Sales” scatter plot, the relationship between the two variables is weakly correlated. The points are widely dispersed, making a linear trend difficult to detect visually.</a:t>
            </a:r>
          </a:p>
        </p:txBody>
      </p:sp>
      <p:sp>
        <p:nvSpPr>
          <p:cNvPr id="4" name="Slide Number Placeholder 3"/>
          <p:cNvSpPr>
            <a:spLocks noGrp="1"/>
          </p:cNvSpPr>
          <p:nvPr>
            <p:ph type="sldNum" sz="quarter" idx="5"/>
          </p:nvPr>
        </p:nvSpPr>
        <p:spPr/>
        <p:txBody>
          <a:bodyPr/>
          <a:lstStyle/>
          <a:p>
            <a:fld id="{05474E44-92FC-4A6B-B70E-C71180BCC9E7}" type="slidenum">
              <a:rPr lang="en-US" smtClean="0"/>
              <a:t>3</a:t>
            </a:fld>
            <a:endParaRPr lang="en-US"/>
          </a:p>
        </p:txBody>
      </p:sp>
    </p:spTree>
    <p:extLst>
      <p:ext uri="{BB962C8B-B14F-4D97-AF65-F5344CB8AC3E}">
        <p14:creationId xmlns:p14="http://schemas.microsoft.com/office/powerpoint/2010/main" val="3144986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we will run a regression analysis to find a simple linear regression that we can use to examine the relationship between two variables: Facebook ad spend and Sales. </a:t>
            </a:r>
            <a:r>
              <a:rPr lang="en-US" sz="1200" b="0" i="0" kern="1200" dirty="0">
                <a:solidFill>
                  <a:schemeClr val="tx1"/>
                </a:solidFill>
                <a:effectLst/>
                <a:latin typeface="+mn-lt"/>
                <a:ea typeface="+mn-ea"/>
                <a:cs typeface="+mn-cs"/>
              </a:rPr>
              <a:t>A Simple Linear Regression</a:t>
            </a:r>
            <a:r>
              <a:rPr lang="en-US" dirty="0"/>
              <a:t> y = 1,141.28 + 12.86 * x, where x is independent variable, which in our case is the Facebook ad spend; y is dependent variable, which in our case is predicted number of sales; 1,141.28 is the y-intercept and 12.86 is the slope in this statistical model. We can use the model to predict the number of s</a:t>
            </a:r>
            <a:r>
              <a:rPr lang="en-US" sz="1200" b="0" i="0" kern="1200" dirty="0">
                <a:solidFill>
                  <a:schemeClr val="tx1"/>
                </a:solidFill>
                <a:effectLst/>
                <a:latin typeface="+mn-lt"/>
                <a:ea typeface="+mn-ea"/>
                <a:cs typeface="+mn-cs"/>
              </a:rPr>
              <a:t>ales after a particular Facebook ad spend in a month. For example, if the company spends $300 per month on Facebook ads, the predicted number of sales would be y = </a:t>
            </a:r>
            <a:r>
              <a:rPr lang="en-US" dirty="0"/>
              <a:t>1,141.28 + 12.86 *</a:t>
            </a:r>
            <a:r>
              <a:rPr lang="en-US" sz="1200" b="0" i="0" kern="1200" dirty="0">
                <a:solidFill>
                  <a:schemeClr val="tx1"/>
                </a:solidFill>
                <a:effectLst/>
                <a:latin typeface="+mn-lt"/>
                <a:ea typeface="+mn-ea"/>
                <a:cs typeface="+mn-cs"/>
              </a:rPr>
              <a:t> 300 = 4,999. Overall, Facebook advertising spending is beneficial for the business</a:t>
            </a:r>
            <a:r>
              <a:rPr lang="en-US" sz="1200" dirty="0">
                <a:latin typeface="Calibri"/>
                <a:ea typeface="Calibri"/>
                <a:cs typeface="Calibri"/>
              </a:rPr>
              <a:t>. However, if we look at the coefficient of determination (R-squared) value, which measured the proportion of variance in the response variable explained by the explanatory variable, R-squared = 0.451. This suggests that the model provides a useful, moderate explanation of the variability in the data, but there is a still a large portion of variation that the current predictors do not capture.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4</a:t>
            </a:fld>
            <a:endParaRPr lang="en-US"/>
          </a:p>
        </p:txBody>
      </p:sp>
    </p:spTree>
    <p:extLst>
      <p:ext uri="{BB962C8B-B14F-4D97-AF65-F5344CB8AC3E}">
        <p14:creationId xmlns:p14="http://schemas.microsoft.com/office/powerpoint/2010/main" val="783408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lnSpc>
                <a:spcPct val="100000"/>
              </a:lnSpc>
              <a:buFont typeface="Arial" panose="020B0604020202020204" pitchFamily="34" charset="0"/>
              <a:buNone/>
            </a:pPr>
            <a:r>
              <a:rPr lang="en-US" b="0" i="0" dirty="0">
                <a:solidFill>
                  <a:srgbClr val="000000"/>
                </a:solidFill>
                <a:effectLst/>
                <a:latin typeface="Arial"/>
                <a:cs typeface="Arial"/>
              </a:rPr>
              <a:t>Next, we will evaluate performance of the simple linear regression by analyzing residuals. On the slide we can see two plots. The plot on the left (Residuals vs Fitted Values) shows residuals from a linear relationship. The residuals are randomly scattered around the horizontal axis (zero lane), indicating that the simple linear regression model from the previous step is a good fit for the data. It also shows that the residuals have a consistent spread, which indicates that the model’s residuals are evenly distributed.</a:t>
            </a:r>
          </a:p>
          <a:p>
            <a:pPr algn="l" rtl="0" fontAlgn="base">
              <a:lnSpc>
                <a:spcPct val="100000"/>
              </a:lnSpc>
              <a:buFont typeface="Arial" panose="020B0604020202020204" pitchFamily="34" charset="0"/>
              <a:buNone/>
            </a:pPr>
            <a:r>
              <a:rPr lang="en-US" b="0" i="0" dirty="0">
                <a:solidFill>
                  <a:srgbClr val="000000"/>
                </a:solidFill>
                <a:effectLst/>
                <a:latin typeface="Arial"/>
                <a:cs typeface="Arial"/>
              </a:rPr>
              <a:t>The plot on the right, Q-Q Plot of Residuals, help us to indicate if the model’s residuals are normally distributed. In practice, minor deviations are often acceptable, especially in large datasets. As we can see from the plot, we do not have significant deviations from the line. A few points near -1.5 a little bit far from the line might indicate outliers, which can affect normality, but overall pattern shows the residuals are likely normally distributed and small deviations are usually acceptable. T</a:t>
            </a:r>
            <a:r>
              <a:rPr lang="en-US" sz="1200" b="0" i="0" kern="1200" dirty="0">
                <a:solidFill>
                  <a:schemeClr val="tx1"/>
                </a:solidFill>
                <a:effectLst/>
                <a:latin typeface="+mn-lt"/>
                <a:ea typeface="+mn-ea"/>
                <a:cs typeface="+mn-cs"/>
              </a:rPr>
              <a:t>his is suggests that the assumption of normality for the residuals in the regression model is reasonably met, supporting the reliability of the model's predictions.</a:t>
            </a:r>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5</a:t>
            </a:fld>
            <a:endParaRPr lang="en-US"/>
          </a:p>
        </p:txBody>
      </p:sp>
    </p:spTree>
    <p:extLst>
      <p:ext uri="{BB962C8B-B14F-4D97-AF65-F5344CB8AC3E}">
        <p14:creationId xmlns:p14="http://schemas.microsoft.com/office/powerpoint/2010/main" val="1365575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rtl="0" fontAlgn="base">
              <a:lnSpc>
                <a:spcPct val="100000"/>
              </a:lnSpc>
              <a:buNone/>
            </a:pPr>
            <a:r>
              <a:rPr lang="en-US" b="1" i="0" dirty="0">
                <a:solidFill>
                  <a:srgbClr val="000000"/>
                </a:solidFill>
                <a:effectLst/>
                <a:latin typeface="Arial"/>
                <a:cs typeface="Arial"/>
              </a:rPr>
              <a:t>Analysis Task:</a:t>
            </a:r>
            <a:r>
              <a:rPr lang="en-US" b="0" i="0" dirty="0">
                <a:solidFill>
                  <a:srgbClr val="000000"/>
                </a:solidFill>
                <a:effectLst/>
                <a:latin typeface="Arial"/>
                <a:cs typeface="Arial"/>
              </a:rPr>
              <a:t> </a:t>
            </a:r>
            <a:endParaRPr lang="en-US" dirty="0"/>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Develop a multiple linear regression model using Facebook ad spend, Instagram ad spend, and discount rate to predict sales. </a:t>
            </a: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Compare this model’s performance to the simple linear regression model. </a:t>
            </a:r>
          </a:p>
          <a:p>
            <a:pPr marL="0" indent="0" algn="l" rtl="0" fontAlgn="base">
              <a:lnSpc>
                <a:spcPct val="100000"/>
              </a:lnSpc>
              <a:buNone/>
            </a:pPr>
            <a:r>
              <a:rPr lang="en-US" b="1" i="0" dirty="0">
                <a:solidFill>
                  <a:srgbClr val="000000"/>
                </a:solidFill>
                <a:effectLst/>
                <a:latin typeface="Arial"/>
                <a:cs typeface="Arial"/>
              </a:rPr>
              <a:t>Slide Content:</a:t>
            </a:r>
            <a:r>
              <a:rPr lang="en-US" b="0" i="0" dirty="0">
                <a:solidFill>
                  <a:srgbClr val="000000"/>
                </a:solidFill>
                <a:effectLst/>
                <a:latin typeface="Arial"/>
                <a:cs typeface="Arial"/>
              </a:rPr>
              <a:t> </a:t>
            </a:r>
            <a:endParaRPr lang="en-US" dirty="0">
              <a:solidFill>
                <a:srgbClr val="000000"/>
              </a:solidFill>
              <a:latin typeface="Arial"/>
              <a:cs typeface="Arial"/>
            </a:endParaRP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Regression output and performance comparison. </a:t>
            </a: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Key insights about how these variables collectively influence sales. </a:t>
            </a:r>
          </a:p>
          <a:p>
            <a:pPr marL="0" indent="0" algn="l" rtl="0" fontAlgn="base">
              <a:lnSpc>
                <a:spcPct val="100000"/>
              </a:lnSpc>
              <a:buNone/>
            </a:pPr>
            <a:r>
              <a:rPr lang="en-US" b="1" i="0" dirty="0">
                <a:solidFill>
                  <a:srgbClr val="000000"/>
                </a:solidFill>
                <a:effectLst/>
                <a:latin typeface="Arial"/>
                <a:cs typeface="Arial"/>
              </a:rPr>
              <a:t>Speaker Notes:</a:t>
            </a:r>
            <a:r>
              <a:rPr lang="en-US" b="0" i="0" dirty="0">
                <a:solidFill>
                  <a:srgbClr val="000000"/>
                </a:solidFill>
                <a:effectLst/>
                <a:latin typeface="Arial"/>
                <a:cs typeface="Arial"/>
              </a:rPr>
              <a:t> </a:t>
            </a:r>
            <a:endParaRPr lang="en-US" dirty="0">
              <a:solidFill>
                <a:srgbClr val="000000"/>
              </a:solidFill>
              <a:latin typeface="Arial"/>
              <a:cs typeface="Arial"/>
            </a:endParaRP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Interpret the coefficients of the multiple linear regression model. </a:t>
            </a: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Discuss how the model improves on the simple linear regression model. </a:t>
            </a:r>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6</a:t>
            </a:fld>
            <a:endParaRPr lang="en-US"/>
          </a:p>
        </p:txBody>
      </p:sp>
    </p:spTree>
    <p:extLst>
      <p:ext uri="{BB962C8B-B14F-4D97-AF65-F5344CB8AC3E}">
        <p14:creationId xmlns:p14="http://schemas.microsoft.com/office/powerpoint/2010/main" val="1278968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rtl="0" fontAlgn="base">
              <a:lnSpc>
                <a:spcPct val="100000"/>
              </a:lnSpc>
              <a:buNone/>
            </a:pPr>
            <a:r>
              <a:rPr lang="en-US" b="1" i="0" dirty="0">
                <a:solidFill>
                  <a:srgbClr val="000000"/>
                </a:solidFill>
                <a:effectLst/>
                <a:latin typeface="Arial"/>
                <a:cs typeface="Arial"/>
              </a:rPr>
              <a:t>Analysis Task:</a:t>
            </a:r>
            <a:r>
              <a:rPr lang="en-US" b="0" i="0" dirty="0">
                <a:solidFill>
                  <a:srgbClr val="000000"/>
                </a:solidFill>
                <a:effectLst/>
                <a:latin typeface="Arial"/>
                <a:cs typeface="Arial"/>
              </a:rPr>
              <a:t> </a:t>
            </a:r>
            <a:endParaRPr lang="en-US" dirty="0"/>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Construct both a 3-month moving average forecast and an exponential smoothing forecast for January 2025 (use a smoothing parameter of 0.80). </a:t>
            </a: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Choose the most reliable method based on </a:t>
            </a:r>
            <a:r>
              <a:rPr lang="en-US" b="0" i="0" dirty="0" err="1">
                <a:solidFill>
                  <a:srgbClr val="000000"/>
                </a:solidFill>
                <a:effectLst/>
                <a:latin typeface="Arial"/>
                <a:cs typeface="Arial"/>
              </a:rPr>
              <a:t>TechGear’s</a:t>
            </a:r>
            <a:r>
              <a:rPr lang="en-US" b="0" i="0" dirty="0">
                <a:solidFill>
                  <a:srgbClr val="000000"/>
                </a:solidFill>
                <a:effectLst/>
                <a:latin typeface="Arial"/>
                <a:cs typeface="Arial"/>
              </a:rPr>
              <a:t> preference for recent sales trends. </a:t>
            </a:r>
          </a:p>
          <a:p>
            <a:pPr marL="0" indent="0" algn="l" rtl="0" fontAlgn="base">
              <a:lnSpc>
                <a:spcPct val="100000"/>
              </a:lnSpc>
              <a:buNone/>
            </a:pPr>
            <a:r>
              <a:rPr lang="en-US" b="1" i="0" dirty="0">
                <a:solidFill>
                  <a:srgbClr val="000000"/>
                </a:solidFill>
                <a:effectLst/>
                <a:latin typeface="Arial"/>
                <a:cs typeface="Arial"/>
              </a:rPr>
              <a:t>Slide Content:</a:t>
            </a:r>
            <a:r>
              <a:rPr lang="en-US" b="0" i="0" dirty="0">
                <a:solidFill>
                  <a:srgbClr val="000000"/>
                </a:solidFill>
                <a:effectLst/>
                <a:latin typeface="Arial"/>
                <a:cs typeface="Arial"/>
              </a:rPr>
              <a:t> </a:t>
            </a:r>
            <a:endParaRPr lang="en-US" dirty="0">
              <a:solidFill>
                <a:srgbClr val="000000"/>
              </a:solidFill>
              <a:latin typeface="Arial"/>
              <a:cs typeface="Arial"/>
            </a:endParaRP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Forecast results from both methods. </a:t>
            </a: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Recommendation of the most reliable method. </a:t>
            </a:r>
          </a:p>
          <a:p>
            <a:pPr marL="0" indent="0" algn="l" rtl="0" fontAlgn="base">
              <a:lnSpc>
                <a:spcPct val="100000"/>
              </a:lnSpc>
              <a:buNone/>
            </a:pPr>
            <a:r>
              <a:rPr lang="en-US" b="1" i="0" dirty="0">
                <a:solidFill>
                  <a:srgbClr val="000000"/>
                </a:solidFill>
                <a:effectLst/>
                <a:latin typeface="Arial"/>
                <a:cs typeface="Arial"/>
              </a:rPr>
              <a:t>Speaker Notes:</a:t>
            </a:r>
            <a:r>
              <a:rPr lang="en-US" b="0" i="0" dirty="0">
                <a:solidFill>
                  <a:srgbClr val="000000"/>
                </a:solidFill>
                <a:effectLst/>
                <a:latin typeface="Arial"/>
                <a:cs typeface="Arial"/>
              </a:rPr>
              <a:t> </a:t>
            </a:r>
            <a:endParaRPr lang="en-US" dirty="0">
              <a:solidFill>
                <a:srgbClr val="000000"/>
              </a:solidFill>
              <a:latin typeface="Arial"/>
              <a:cs typeface="Arial"/>
            </a:endParaRP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Justify your choice of forecasting method. </a:t>
            </a:r>
          </a:p>
          <a:p>
            <a:pPr algn="l" rtl="0" fontAlgn="base">
              <a:lnSpc>
                <a:spcPct val="100000"/>
              </a:lnSpc>
              <a:buFont typeface="Arial" panose="020B0604020202020204" pitchFamily="34" charset="0"/>
              <a:buChar char="•"/>
            </a:pPr>
            <a:r>
              <a:rPr lang="en-US" b="0" i="0" dirty="0">
                <a:solidFill>
                  <a:srgbClr val="000000"/>
                </a:solidFill>
                <a:effectLst/>
                <a:latin typeface="Arial"/>
                <a:cs typeface="Arial"/>
              </a:rPr>
              <a:t>Provide recommendations on how </a:t>
            </a:r>
            <a:r>
              <a:rPr lang="en-US" b="0" i="0" dirty="0" err="1">
                <a:solidFill>
                  <a:srgbClr val="000000"/>
                </a:solidFill>
                <a:effectLst/>
                <a:latin typeface="Arial"/>
                <a:cs typeface="Arial"/>
              </a:rPr>
              <a:t>TechGear</a:t>
            </a:r>
            <a:r>
              <a:rPr lang="en-US" b="0" i="0" dirty="0">
                <a:solidFill>
                  <a:srgbClr val="000000"/>
                </a:solidFill>
                <a:effectLst/>
                <a:latin typeface="Arial"/>
                <a:cs typeface="Arial"/>
              </a:rPr>
              <a:t> can use the forecast to optimize marketing strategies. </a:t>
            </a:r>
          </a:p>
          <a:p>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7</a:t>
            </a:fld>
            <a:endParaRPr lang="en-US"/>
          </a:p>
        </p:txBody>
      </p:sp>
    </p:spTree>
    <p:extLst>
      <p:ext uri="{BB962C8B-B14F-4D97-AF65-F5344CB8AC3E}">
        <p14:creationId xmlns:p14="http://schemas.microsoft.com/office/powerpoint/2010/main" val="3837034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rtl="0" fontAlgn="base">
              <a:lnSpc>
                <a:spcPct val="100000"/>
              </a:lnSpc>
              <a:buNone/>
            </a:pPr>
            <a:r>
              <a:rPr lang="en-US" b="1" i="0" dirty="0">
                <a:solidFill>
                  <a:srgbClr val="000000"/>
                </a:solidFill>
                <a:effectLst/>
                <a:latin typeface="Arial"/>
                <a:cs typeface="Arial"/>
              </a:rPr>
              <a:t>Analysis Task:</a:t>
            </a:r>
            <a:r>
              <a:rPr lang="en-US" b="0" i="0" dirty="0">
                <a:solidFill>
                  <a:srgbClr val="000000"/>
                </a:solidFill>
                <a:effectLst/>
                <a:latin typeface="Arial"/>
                <a:cs typeface="Arial"/>
              </a:rPr>
              <a:t> </a:t>
            </a:r>
            <a:endParaRPr lang="en-US" dirty="0"/>
          </a:p>
          <a:p>
            <a:pPr marL="493395" lvl="1">
              <a:lnSpc>
                <a:spcPct val="100000"/>
              </a:lnSpc>
            </a:pPr>
            <a:r>
              <a:rPr lang="en-US" sz="2000" dirty="0">
                <a:latin typeface="Arial"/>
                <a:cs typeface="Arial"/>
              </a:rPr>
              <a:t>Build a multiple linear regression model using 5-fold cross-validation to predict future sales. </a:t>
            </a:r>
          </a:p>
          <a:p>
            <a:pPr marL="493395" lvl="1">
              <a:lnSpc>
                <a:spcPct val="100000"/>
              </a:lnSpc>
            </a:pPr>
            <a:r>
              <a:rPr lang="en-US" sz="2000" dirty="0">
                <a:latin typeface="Arial"/>
                <a:cs typeface="Arial"/>
              </a:rPr>
              <a:t>Build a decision tree model using 5-fold cross-validation to predict future sales. </a:t>
            </a:r>
          </a:p>
          <a:p>
            <a:pPr marL="493395" lvl="1">
              <a:lnSpc>
                <a:spcPct val="100000"/>
              </a:lnSpc>
            </a:pPr>
            <a:r>
              <a:rPr lang="en-US" sz="2000" dirty="0">
                <a:latin typeface="Arial"/>
                <a:cs typeface="Arial"/>
              </a:rPr>
              <a:t>Compare the performance of these models using RMSE and determine which one </a:t>
            </a:r>
            <a:r>
              <a:rPr lang="en-US" sz="2000" dirty="0" err="1">
                <a:latin typeface="Arial"/>
                <a:cs typeface="Arial"/>
              </a:rPr>
              <a:t>TechGear</a:t>
            </a:r>
            <a:r>
              <a:rPr lang="en-US" sz="2000" dirty="0">
                <a:latin typeface="Arial"/>
                <a:cs typeface="Arial"/>
              </a:rPr>
              <a:t> should select. Provide a reason for why </a:t>
            </a:r>
            <a:r>
              <a:rPr lang="en-US" sz="2000" dirty="0" err="1">
                <a:latin typeface="Arial"/>
                <a:cs typeface="Arial"/>
              </a:rPr>
              <a:t>TechGear</a:t>
            </a:r>
            <a:r>
              <a:rPr lang="en-US" sz="2000" dirty="0">
                <a:latin typeface="Arial"/>
                <a:cs typeface="Arial"/>
              </a:rPr>
              <a:t> should select the model you are suggesting.  </a:t>
            </a:r>
          </a:p>
          <a:p>
            <a:pPr marL="0" indent="0">
              <a:lnSpc>
                <a:spcPct val="100000"/>
              </a:lnSpc>
              <a:buNone/>
            </a:pPr>
            <a:r>
              <a:rPr lang="en-US" b="1" dirty="0">
                <a:solidFill>
                  <a:srgbClr val="000000"/>
                </a:solidFill>
                <a:latin typeface="Arial"/>
                <a:ea typeface="+mn-lt"/>
                <a:cs typeface="Arial"/>
              </a:rPr>
              <a:t>Slide</a:t>
            </a:r>
            <a:r>
              <a:rPr lang="en-US" b="1" i="0" dirty="0">
                <a:solidFill>
                  <a:srgbClr val="000000"/>
                </a:solidFill>
                <a:effectLst/>
                <a:latin typeface="Arial"/>
                <a:cs typeface="Arial"/>
              </a:rPr>
              <a:t> Content:</a:t>
            </a:r>
            <a:r>
              <a:rPr lang="en-US" b="0" i="0" dirty="0">
                <a:solidFill>
                  <a:srgbClr val="000000"/>
                </a:solidFill>
                <a:effectLst/>
                <a:latin typeface="Arial"/>
                <a:cs typeface="Arial"/>
              </a:rPr>
              <a:t> </a:t>
            </a:r>
            <a:endParaRPr lang="en-US" dirty="0">
              <a:solidFill>
                <a:srgbClr val="000000"/>
              </a:solidFill>
              <a:latin typeface="Arial"/>
              <a:cs typeface="Arial"/>
            </a:endParaRPr>
          </a:p>
          <a:p>
            <a:pPr marL="493395" lvl="1" algn="l" rtl="0" fontAlgn="base">
              <a:lnSpc>
                <a:spcPct val="100000"/>
              </a:lnSpc>
              <a:buFont typeface="Arial" panose="020B0604020202020204" pitchFamily="34" charset="0"/>
              <a:buChar char="•"/>
            </a:pPr>
            <a:r>
              <a:rPr lang="en-US" sz="2000" b="0" i="0" dirty="0">
                <a:solidFill>
                  <a:srgbClr val="000000"/>
                </a:solidFill>
                <a:effectLst/>
                <a:latin typeface="Arial"/>
                <a:cs typeface="Arial"/>
              </a:rPr>
              <a:t>RMSE comparison and model selection. </a:t>
            </a:r>
          </a:p>
          <a:p>
            <a:pPr marL="493395" lvl="1" fontAlgn="base">
              <a:lnSpc>
                <a:spcPct val="100000"/>
              </a:lnSpc>
            </a:pPr>
            <a:r>
              <a:rPr lang="en-US" sz="2000" b="0" i="0" dirty="0">
                <a:solidFill>
                  <a:srgbClr val="000000"/>
                </a:solidFill>
                <a:effectLst/>
                <a:latin typeface="Arial"/>
                <a:cs typeface="Arial"/>
              </a:rPr>
              <a:t>Key insights from the best model. </a:t>
            </a:r>
            <a:endParaRPr lang="en-US" sz="2000" dirty="0">
              <a:latin typeface="Arial"/>
              <a:cs typeface="Arial"/>
            </a:endParaRPr>
          </a:p>
          <a:p>
            <a:pPr marL="0" indent="0" algn="l" rtl="0" fontAlgn="base">
              <a:lnSpc>
                <a:spcPct val="100000"/>
              </a:lnSpc>
              <a:buNone/>
            </a:pPr>
            <a:r>
              <a:rPr lang="en-US" b="1" i="0" dirty="0">
                <a:solidFill>
                  <a:srgbClr val="000000"/>
                </a:solidFill>
                <a:effectLst/>
                <a:latin typeface="Arial"/>
                <a:cs typeface="Arial"/>
              </a:rPr>
              <a:t>Speaker Notes:</a:t>
            </a:r>
            <a:r>
              <a:rPr lang="en-US" b="0" i="0" dirty="0">
                <a:solidFill>
                  <a:srgbClr val="000000"/>
                </a:solidFill>
                <a:effectLst/>
                <a:latin typeface="Arial"/>
                <a:cs typeface="Arial"/>
              </a:rPr>
              <a:t> </a:t>
            </a:r>
            <a:endParaRPr lang="en-US" dirty="0">
              <a:solidFill>
                <a:srgbClr val="000000"/>
              </a:solidFill>
              <a:latin typeface="Arial"/>
              <a:cs typeface="Arial"/>
            </a:endParaRPr>
          </a:p>
          <a:p>
            <a:pPr marL="493395" lvl="1" algn="l" rtl="0" fontAlgn="base">
              <a:lnSpc>
                <a:spcPct val="100000"/>
              </a:lnSpc>
            </a:pPr>
            <a:r>
              <a:rPr lang="en-US" sz="2000" b="0" i="0" dirty="0">
                <a:solidFill>
                  <a:srgbClr val="000000"/>
                </a:solidFill>
                <a:effectLst/>
                <a:latin typeface="Arial"/>
                <a:cs typeface="Arial"/>
              </a:rPr>
              <a:t>Explain why you selected the best model. </a:t>
            </a:r>
          </a:p>
          <a:p>
            <a:pPr marL="493395" lvl="1" algn="l" rtl="0" fontAlgn="base">
              <a:lnSpc>
                <a:spcPct val="100000"/>
              </a:lnSpc>
            </a:pPr>
            <a:r>
              <a:rPr lang="en-US" sz="2000" b="0" i="0" dirty="0">
                <a:solidFill>
                  <a:srgbClr val="000000"/>
                </a:solidFill>
                <a:effectLst/>
                <a:latin typeface="Arial"/>
                <a:cs typeface="Arial"/>
              </a:rPr>
              <a:t>Interpret the RMSE and discuss its implications for decision-making. </a:t>
            </a:r>
          </a:p>
          <a:p>
            <a:pPr marL="493395" lvl="1" algn="l" rtl="0" fontAlgn="base">
              <a:lnSpc>
                <a:spcPct val="100000"/>
              </a:lnSpc>
            </a:pPr>
            <a:r>
              <a:rPr lang="en-US" sz="2000" b="0" i="0" dirty="0">
                <a:solidFill>
                  <a:srgbClr val="000000"/>
                </a:solidFill>
                <a:effectLst/>
                <a:latin typeface="Arial"/>
                <a:cs typeface="Arial"/>
              </a:rPr>
              <a:t>Consider the $6,500 threshold and the potential range of actual sales. </a:t>
            </a:r>
          </a:p>
          <a:p>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8</a:t>
            </a:fld>
            <a:endParaRPr lang="en-US"/>
          </a:p>
        </p:txBody>
      </p:sp>
    </p:spTree>
    <p:extLst>
      <p:ext uri="{BB962C8B-B14F-4D97-AF65-F5344CB8AC3E}">
        <p14:creationId xmlns:p14="http://schemas.microsoft.com/office/powerpoint/2010/main" val="1258461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rtl="0" fontAlgn="base">
              <a:lnSpc>
                <a:spcPct val="100000"/>
              </a:lnSpc>
              <a:buNone/>
            </a:pPr>
            <a:r>
              <a:rPr lang="en-US" b="1" i="0" dirty="0">
                <a:solidFill>
                  <a:srgbClr val="000000"/>
                </a:solidFill>
                <a:effectLst/>
                <a:latin typeface="Arial"/>
                <a:cs typeface="Arial"/>
              </a:rPr>
              <a:t>Analysis Task:</a:t>
            </a:r>
            <a:r>
              <a:rPr lang="en-US" b="0" i="0" dirty="0">
                <a:solidFill>
                  <a:srgbClr val="000000"/>
                </a:solidFill>
                <a:effectLst/>
                <a:latin typeface="Arial"/>
                <a:cs typeface="Arial"/>
              </a:rPr>
              <a:t> </a:t>
            </a:r>
            <a:endParaRPr lang="en-US" dirty="0"/>
          </a:p>
          <a:p>
            <a:pPr marL="493395" lvl="1" fontAlgn="base">
              <a:lnSpc>
                <a:spcPct val="100000"/>
              </a:lnSpc>
            </a:pPr>
            <a:r>
              <a:rPr lang="en-US" sz="2000" dirty="0">
                <a:solidFill>
                  <a:srgbClr val="000000"/>
                </a:solidFill>
                <a:latin typeface="Arial"/>
                <a:ea typeface="+mn-lt"/>
                <a:cs typeface="+mn-lt"/>
              </a:rPr>
              <a:t>Estimate the average and median monthly sales by running </a:t>
            </a:r>
            <a:r>
              <a:rPr lang="en-US" sz="2000" b="0" i="0" dirty="0">
                <a:solidFill>
                  <a:srgbClr val="000000"/>
                </a:solidFill>
                <a:effectLst/>
                <a:latin typeface="Arial"/>
                <a:ea typeface="+mn-lt"/>
                <a:cs typeface="+mn-lt"/>
              </a:rPr>
              <a:t>1,000 simulations</a:t>
            </a:r>
            <a:r>
              <a:rPr lang="en-US" sz="2000" dirty="0">
                <a:solidFill>
                  <a:srgbClr val="000000"/>
                </a:solidFill>
                <a:latin typeface="Arial"/>
                <a:ea typeface="+mn-lt"/>
                <a:cs typeface="+mn-lt"/>
              </a:rPr>
              <a:t>. </a:t>
            </a:r>
          </a:p>
          <a:p>
            <a:pPr lvl="2">
              <a:lnSpc>
                <a:spcPct val="100000"/>
              </a:lnSpc>
              <a:buFont typeface="Wingdings" panose="020B0604020202020204" pitchFamily="34" charset="0"/>
              <a:buChar char="Ø"/>
            </a:pPr>
            <a:r>
              <a:rPr lang="en-US" sz="2000" dirty="0">
                <a:solidFill>
                  <a:srgbClr val="000000"/>
                </a:solidFill>
                <a:latin typeface="Arial"/>
                <a:ea typeface="+mn-lt"/>
                <a:cs typeface="+mn-lt"/>
              </a:rPr>
              <a:t>Assume that daily</a:t>
            </a:r>
            <a:r>
              <a:rPr lang="en-US" sz="2000" b="0" i="0" dirty="0">
                <a:solidFill>
                  <a:srgbClr val="000000"/>
                </a:solidFill>
                <a:effectLst/>
                <a:latin typeface="Arial"/>
                <a:ea typeface="+mn-lt"/>
                <a:cs typeface="+mn-lt"/>
              </a:rPr>
              <a:t> sales </a:t>
            </a:r>
            <a:r>
              <a:rPr lang="en-US" sz="2000" dirty="0">
                <a:solidFill>
                  <a:srgbClr val="000000"/>
                </a:solidFill>
                <a:latin typeface="Arial"/>
                <a:ea typeface="+mn-lt"/>
                <a:cs typeface="+mn-lt"/>
              </a:rPr>
              <a:t>follow </a:t>
            </a:r>
            <a:r>
              <a:rPr lang="en-US" sz="2000" b="0" i="0" dirty="0">
                <a:solidFill>
                  <a:srgbClr val="000000"/>
                </a:solidFill>
                <a:effectLst/>
                <a:latin typeface="Arial"/>
                <a:ea typeface="+mn-lt"/>
                <a:cs typeface="+mn-lt"/>
              </a:rPr>
              <a:t>a uniform distribution </a:t>
            </a:r>
            <a:r>
              <a:rPr lang="en-US" sz="2000" dirty="0">
                <a:solidFill>
                  <a:srgbClr val="000000"/>
                </a:solidFill>
                <a:latin typeface="Arial"/>
                <a:ea typeface="+mn-lt"/>
                <a:cs typeface="+mn-lt"/>
              </a:rPr>
              <a:t>within the minimum and maximum sales values </a:t>
            </a:r>
            <a:r>
              <a:rPr lang="en-US" sz="2000" dirty="0" err="1">
                <a:solidFill>
                  <a:srgbClr val="000000"/>
                </a:solidFill>
                <a:latin typeface="Arial"/>
                <a:ea typeface="+mn-lt"/>
                <a:cs typeface="+mn-lt"/>
              </a:rPr>
              <a:t>TechGear</a:t>
            </a:r>
            <a:r>
              <a:rPr lang="en-US" sz="2000" dirty="0">
                <a:solidFill>
                  <a:srgbClr val="000000"/>
                </a:solidFill>
                <a:latin typeface="Arial"/>
                <a:ea typeface="+mn-lt"/>
                <a:cs typeface="+mn-lt"/>
              </a:rPr>
              <a:t> experienced over the last 60 months.  </a:t>
            </a:r>
            <a:endParaRPr lang="en-US" sz="2000" dirty="0">
              <a:latin typeface="Arial"/>
              <a:cs typeface="Arial"/>
            </a:endParaRPr>
          </a:p>
          <a:p>
            <a:pPr lvl="2">
              <a:lnSpc>
                <a:spcPct val="100000"/>
              </a:lnSpc>
              <a:buFont typeface="Wingdings" panose="020B0604020202020204" pitchFamily="34" charset="0"/>
              <a:buChar char="Ø"/>
            </a:pPr>
            <a:r>
              <a:rPr lang="en-US" sz="2000" dirty="0">
                <a:solidFill>
                  <a:srgbClr val="000000"/>
                </a:solidFill>
                <a:latin typeface="Arial"/>
                <a:ea typeface="+mn-lt"/>
                <a:cs typeface="+mn-lt"/>
              </a:rPr>
              <a:t>Use a </a:t>
            </a:r>
            <a:r>
              <a:rPr lang="en-US" sz="2000" b="0" i="0" dirty="0">
                <a:solidFill>
                  <a:srgbClr val="000000"/>
                </a:solidFill>
                <a:effectLst/>
                <a:latin typeface="Arial"/>
                <a:ea typeface="+mn-lt"/>
                <a:cs typeface="+mn-lt"/>
              </a:rPr>
              <a:t>random seed </a:t>
            </a:r>
            <a:r>
              <a:rPr lang="en-US" sz="2000" dirty="0">
                <a:solidFill>
                  <a:srgbClr val="000000"/>
                </a:solidFill>
                <a:latin typeface="Arial"/>
                <a:ea typeface="+mn-lt"/>
                <a:cs typeface="+mn-lt"/>
              </a:rPr>
              <a:t>value of </a:t>
            </a:r>
            <a:r>
              <a:rPr lang="en-US" sz="2000" b="0" i="0" dirty="0">
                <a:solidFill>
                  <a:srgbClr val="000000"/>
                </a:solidFill>
                <a:effectLst/>
                <a:latin typeface="Arial"/>
                <a:ea typeface="+mn-lt"/>
                <a:cs typeface="+mn-lt"/>
              </a:rPr>
              <a:t>42</a:t>
            </a:r>
            <a:r>
              <a:rPr lang="en-US" sz="2000" dirty="0">
                <a:solidFill>
                  <a:srgbClr val="000000"/>
                </a:solidFill>
                <a:latin typeface="Arial"/>
                <a:ea typeface="+mn-lt"/>
                <a:cs typeface="+mn-lt"/>
              </a:rPr>
              <a:t>. </a:t>
            </a:r>
            <a:endParaRPr lang="en-US" sz="2000" dirty="0">
              <a:latin typeface="Arial"/>
              <a:cs typeface="Arial"/>
            </a:endParaRPr>
          </a:p>
          <a:p>
            <a:pPr marL="493395" lvl="1">
              <a:lnSpc>
                <a:spcPct val="100000"/>
              </a:lnSpc>
            </a:pPr>
            <a:r>
              <a:rPr lang="en-US" sz="2000" dirty="0">
                <a:solidFill>
                  <a:srgbClr val="000000"/>
                </a:solidFill>
                <a:latin typeface="Arial"/>
                <a:ea typeface="+mn-lt"/>
                <a:cs typeface="+mn-lt"/>
              </a:rPr>
              <a:t>Interpret the standard deviation of </a:t>
            </a:r>
            <a:r>
              <a:rPr lang="en-US" sz="2000" b="0" i="0" dirty="0">
                <a:solidFill>
                  <a:srgbClr val="000000"/>
                </a:solidFill>
                <a:effectLst/>
                <a:latin typeface="Arial"/>
                <a:ea typeface="+mn-lt"/>
                <a:cs typeface="+mn-lt"/>
              </a:rPr>
              <a:t>the </a:t>
            </a:r>
            <a:r>
              <a:rPr lang="en-US" sz="2000" dirty="0">
                <a:solidFill>
                  <a:srgbClr val="000000"/>
                </a:solidFill>
                <a:latin typeface="Arial"/>
                <a:ea typeface="+mn-lt"/>
                <a:cs typeface="+mn-lt"/>
              </a:rPr>
              <a:t>simulated </a:t>
            </a:r>
            <a:r>
              <a:rPr lang="en-US" sz="2000" b="0" i="0" dirty="0">
                <a:solidFill>
                  <a:srgbClr val="000000"/>
                </a:solidFill>
                <a:effectLst/>
                <a:latin typeface="Arial"/>
                <a:ea typeface="+mn-lt"/>
                <a:cs typeface="+mn-lt"/>
              </a:rPr>
              <a:t>monthly sales and </a:t>
            </a:r>
            <a:r>
              <a:rPr lang="en-US" sz="2000" dirty="0">
                <a:solidFill>
                  <a:srgbClr val="000000"/>
                </a:solidFill>
                <a:latin typeface="Arial"/>
                <a:ea typeface="+mn-lt"/>
                <a:cs typeface="+mn-lt"/>
              </a:rPr>
              <a:t>explain its significance in understanding </a:t>
            </a:r>
            <a:r>
              <a:rPr lang="en-US" sz="2000" b="0" i="0" dirty="0">
                <a:solidFill>
                  <a:srgbClr val="000000"/>
                </a:solidFill>
                <a:effectLst/>
                <a:latin typeface="Arial"/>
                <a:ea typeface="+mn-lt"/>
                <a:cs typeface="+mn-lt"/>
              </a:rPr>
              <a:t>the </a:t>
            </a:r>
            <a:r>
              <a:rPr lang="en-US" sz="2000" dirty="0">
                <a:solidFill>
                  <a:srgbClr val="000000"/>
                </a:solidFill>
                <a:latin typeface="Arial"/>
                <a:ea typeface="+mn-lt"/>
                <a:cs typeface="+mn-lt"/>
              </a:rPr>
              <a:t>variability of </a:t>
            </a:r>
            <a:r>
              <a:rPr lang="en-US" sz="2000" dirty="0" err="1">
                <a:solidFill>
                  <a:srgbClr val="000000"/>
                </a:solidFill>
                <a:latin typeface="Arial"/>
                <a:ea typeface="+mn-lt"/>
                <a:cs typeface="+mn-lt"/>
              </a:rPr>
              <a:t>TechGear's</a:t>
            </a:r>
            <a:r>
              <a:rPr lang="en-US" sz="2000" dirty="0">
                <a:solidFill>
                  <a:srgbClr val="000000"/>
                </a:solidFill>
                <a:latin typeface="Arial"/>
                <a:ea typeface="+mn-lt"/>
                <a:cs typeface="+mn-lt"/>
              </a:rPr>
              <a:t> sales</a:t>
            </a:r>
            <a:r>
              <a:rPr lang="en-US" sz="2000" b="0" i="0" dirty="0">
                <a:solidFill>
                  <a:srgbClr val="000000"/>
                </a:solidFill>
                <a:effectLst/>
                <a:latin typeface="Arial"/>
                <a:ea typeface="+mn-lt"/>
                <a:cs typeface="+mn-lt"/>
              </a:rPr>
              <a:t>.</a:t>
            </a:r>
            <a:r>
              <a:rPr lang="en-US" sz="2000" dirty="0">
                <a:solidFill>
                  <a:srgbClr val="000000"/>
                </a:solidFill>
                <a:latin typeface="Arial"/>
                <a:ea typeface="+mn-lt"/>
                <a:cs typeface="+mn-lt"/>
              </a:rPr>
              <a:t> </a:t>
            </a:r>
            <a:endParaRPr lang="en-US" sz="2000" dirty="0">
              <a:latin typeface="Arial"/>
              <a:cs typeface="Arial"/>
            </a:endParaRPr>
          </a:p>
          <a:p>
            <a:pPr marL="0" indent="0">
              <a:lnSpc>
                <a:spcPct val="100000"/>
              </a:lnSpc>
              <a:buNone/>
            </a:pPr>
            <a:r>
              <a:rPr lang="en-US" b="1" dirty="0">
                <a:solidFill>
                  <a:srgbClr val="000000"/>
                </a:solidFill>
                <a:latin typeface="Arial"/>
                <a:ea typeface="+mn-lt"/>
                <a:cs typeface="Arial"/>
              </a:rPr>
              <a:t>Slide</a:t>
            </a:r>
            <a:r>
              <a:rPr lang="en-US" b="1" i="0" dirty="0">
                <a:solidFill>
                  <a:srgbClr val="000000"/>
                </a:solidFill>
                <a:effectLst/>
                <a:latin typeface="Arial"/>
                <a:cs typeface="Arial"/>
              </a:rPr>
              <a:t> Content:</a:t>
            </a:r>
            <a:r>
              <a:rPr lang="en-US" b="0" i="0" dirty="0">
                <a:solidFill>
                  <a:srgbClr val="000000"/>
                </a:solidFill>
                <a:effectLst/>
                <a:latin typeface="Arial"/>
                <a:cs typeface="Arial"/>
              </a:rPr>
              <a:t> </a:t>
            </a:r>
            <a:endParaRPr lang="en-US" dirty="0">
              <a:solidFill>
                <a:srgbClr val="000000"/>
              </a:solidFill>
              <a:latin typeface="Arial"/>
              <a:cs typeface="Arial"/>
            </a:endParaRPr>
          </a:p>
          <a:p>
            <a:pPr marL="493395" lvl="1" algn="l" rtl="0" fontAlgn="base">
              <a:lnSpc>
                <a:spcPct val="100000"/>
              </a:lnSpc>
            </a:pPr>
            <a:r>
              <a:rPr lang="en-US" sz="2000" b="0" i="0" dirty="0">
                <a:solidFill>
                  <a:srgbClr val="000000"/>
                </a:solidFill>
                <a:effectLst/>
                <a:latin typeface="Arial"/>
                <a:cs typeface="Arial"/>
              </a:rPr>
              <a:t>Histogram and summary statistics (average, median, and standard deviation). </a:t>
            </a:r>
          </a:p>
          <a:p>
            <a:pPr marL="493395" lvl="1" algn="l" rtl="0" fontAlgn="base">
              <a:lnSpc>
                <a:spcPct val="100000"/>
              </a:lnSpc>
            </a:pPr>
            <a:r>
              <a:rPr lang="en-US" sz="2000" b="0" i="0" dirty="0">
                <a:solidFill>
                  <a:srgbClr val="000000"/>
                </a:solidFill>
                <a:effectLst/>
                <a:latin typeface="Arial"/>
                <a:cs typeface="Arial"/>
              </a:rPr>
              <a:t>Key insights on sales variability. </a:t>
            </a:r>
          </a:p>
          <a:p>
            <a:pPr marL="0" indent="0" algn="l" rtl="0" fontAlgn="base">
              <a:lnSpc>
                <a:spcPct val="100000"/>
              </a:lnSpc>
              <a:buNone/>
            </a:pPr>
            <a:r>
              <a:rPr lang="en-US" b="1" i="0" dirty="0">
                <a:solidFill>
                  <a:srgbClr val="000000"/>
                </a:solidFill>
                <a:effectLst/>
                <a:latin typeface="Arial"/>
                <a:cs typeface="Arial"/>
              </a:rPr>
              <a:t>Speaker Notes:</a:t>
            </a:r>
            <a:r>
              <a:rPr lang="en-US" b="0" i="0" dirty="0">
                <a:solidFill>
                  <a:srgbClr val="000000"/>
                </a:solidFill>
                <a:effectLst/>
                <a:latin typeface="Arial"/>
                <a:cs typeface="Arial"/>
              </a:rPr>
              <a:t> </a:t>
            </a:r>
            <a:endParaRPr lang="en-US" dirty="0">
              <a:solidFill>
                <a:srgbClr val="000000"/>
              </a:solidFill>
              <a:latin typeface="Arial"/>
              <a:cs typeface="Arial"/>
            </a:endParaRPr>
          </a:p>
          <a:p>
            <a:pPr marL="493395" lvl="1" algn="l" rtl="0" fontAlgn="base">
              <a:lnSpc>
                <a:spcPct val="100000"/>
              </a:lnSpc>
            </a:pPr>
            <a:r>
              <a:rPr lang="en-US" sz="2000" b="0" i="0" dirty="0">
                <a:solidFill>
                  <a:srgbClr val="000000"/>
                </a:solidFill>
                <a:effectLst/>
                <a:latin typeface="Arial"/>
                <a:cs typeface="Arial"/>
              </a:rPr>
              <a:t>Explain the significance of the average, median, and standard deviation. </a:t>
            </a:r>
          </a:p>
          <a:p>
            <a:pPr marL="493395" lvl="1" algn="l" rtl="0" fontAlgn="base">
              <a:lnSpc>
                <a:spcPct val="100000"/>
              </a:lnSpc>
            </a:pPr>
            <a:r>
              <a:rPr lang="en-US" sz="2000" b="0" i="0" dirty="0">
                <a:solidFill>
                  <a:srgbClr val="000000"/>
                </a:solidFill>
                <a:effectLst/>
                <a:latin typeface="Arial"/>
                <a:cs typeface="Arial"/>
              </a:rPr>
              <a:t>Provide actionable insights for improving sales, budgeting, and operations based on the simulation.</a:t>
            </a:r>
            <a:r>
              <a:rPr lang="en-US" b="0" i="0" dirty="0">
                <a:solidFill>
                  <a:srgbClr val="000000"/>
                </a:solidFill>
                <a:effectLst/>
                <a:latin typeface="Arial"/>
                <a:cs typeface="Arial"/>
              </a:rPr>
              <a:t> </a:t>
            </a:r>
          </a:p>
          <a:p>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9</a:t>
            </a:fld>
            <a:endParaRPr lang="en-US"/>
          </a:p>
        </p:txBody>
      </p:sp>
    </p:spTree>
    <p:extLst>
      <p:ext uri="{BB962C8B-B14F-4D97-AF65-F5344CB8AC3E}">
        <p14:creationId xmlns:p14="http://schemas.microsoft.com/office/powerpoint/2010/main" val="2396721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rtl="0" fontAlgn="base">
              <a:lnSpc>
                <a:spcPct val="100000"/>
              </a:lnSpc>
              <a:buNone/>
            </a:pPr>
            <a:r>
              <a:rPr lang="en-US" b="1" i="0" dirty="0">
                <a:solidFill>
                  <a:srgbClr val="000000"/>
                </a:solidFill>
                <a:effectLst/>
                <a:latin typeface="Arial"/>
                <a:cs typeface="Arial"/>
              </a:rPr>
              <a:t>Analysis Task:</a:t>
            </a:r>
            <a:r>
              <a:rPr lang="en-US" b="0" i="0" dirty="0">
                <a:solidFill>
                  <a:srgbClr val="000000"/>
                </a:solidFill>
                <a:effectLst/>
                <a:latin typeface="Arial"/>
                <a:cs typeface="Arial"/>
              </a:rPr>
              <a:t> </a:t>
            </a:r>
            <a:endParaRPr lang="en-US" dirty="0"/>
          </a:p>
          <a:p>
            <a:pPr marL="493395" lvl="1" algn="l" rtl="0" fontAlgn="base">
              <a:lnSpc>
                <a:spcPct val="100000"/>
              </a:lnSpc>
            </a:pPr>
            <a:r>
              <a:rPr lang="en-US" sz="2000" b="0" i="0" dirty="0">
                <a:solidFill>
                  <a:srgbClr val="000000"/>
                </a:solidFill>
                <a:effectLst/>
                <a:latin typeface="Arial"/>
                <a:cs typeface="Arial"/>
              </a:rPr>
              <a:t>Use linear programming to optimize </a:t>
            </a:r>
            <a:r>
              <a:rPr lang="en-US" sz="2000" b="0" i="0" dirty="0" err="1">
                <a:solidFill>
                  <a:srgbClr val="000000"/>
                </a:solidFill>
                <a:effectLst/>
                <a:latin typeface="Arial"/>
                <a:cs typeface="Arial"/>
              </a:rPr>
              <a:t>TechGear’s</a:t>
            </a:r>
            <a:r>
              <a:rPr lang="en-US" sz="2000" b="0" i="0" dirty="0">
                <a:solidFill>
                  <a:srgbClr val="000000"/>
                </a:solidFill>
                <a:effectLst/>
                <a:latin typeface="Arial"/>
                <a:cs typeface="Arial"/>
              </a:rPr>
              <a:t> monthly advertising budget allocation between Facebook and Instagram to maximize sales. </a:t>
            </a:r>
          </a:p>
          <a:p>
            <a:pPr marL="493395" lvl="1" algn="l" rtl="0" fontAlgn="base">
              <a:lnSpc>
                <a:spcPct val="100000"/>
              </a:lnSpc>
            </a:pPr>
            <a:r>
              <a:rPr lang="en-US" sz="2000" b="0" i="0" dirty="0">
                <a:solidFill>
                  <a:srgbClr val="000000"/>
                </a:solidFill>
                <a:effectLst/>
                <a:latin typeface="Arial"/>
                <a:cs typeface="Arial"/>
              </a:rPr>
              <a:t>Ensure you meet all budget and constraint requirements. </a:t>
            </a:r>
          </a:p>
          <a:p>
            <a:pPr marL="0" indent="0" algn="l" rtl="0" fontAlgn="base">
              <a:lnSpc>
                <a:spcPct val="100000"/>
              </a:lnSpc>
              <a:buNone/>
            </a:pPr>
            <a:r>
              <a:rPr lang="en-US" b="1" i="0" dirty="0">
                <a:solidFill>
                  <a:srgbClr val="000000"/>
                </a:solidFill>
                <a:effectLst/>
                <a:latin typeface="Arial"/>
                <a:cs typeface="Arial"/>
              </a:rPr>
              <a:t>Slide Content:</a:t>
            </a:r>
            <a:r>
              <a:rPr lang="en-US" b="0" i="0" dirty="0">
                <a:solidFill>
                  <a:srgbClr val="000000"/>
                </a:solidFill>
                <a:effectLst/>
                <a:latin typeface="Arial"/>
                <a:cs typeface="Arial"/>
              </a:rPr>
              <a:t> </a:t>
            </a:r>
            <a:endParaRPr lang="en-US" dirty="0">
              <a:solidFill>
                <a:srgbClr val="000000"/>
              </a:solidFill>
              <a:latin typeface="Arial"/>
              <a:cs typeface="Arial"/>
            </a:endParaRPr>
          </a:p>
          <a:p>
            <a:pPr marL="493395" lvl="1" algn="l" rtl="0" fontAlgn="base">
              <a:lnSpc>
                <a:spcPct val="100000"/>
              </a:lnSpc>
            </a:pPr>
            <a:r>
              <a:rPr lang="en-US" sz="2000" b="0" i="0" dirty="0">
                <a:solidFill>
                  <a:srgbClr val="000000"/>
                </a:solidFill>
                <a:effectLst/>
                <a:latin typeface="Arial"/>
                <a:cs typeface="Arial"/>
              </a:rPr>
              <a:t>Optimal budget allocation and maximum sales result. </a:t>
            </a:r>
          </a:p>
          <a:p>
            <a:pPr marL="0" indent="0" algn="l" rtl="0" fontAlgn="base">
              <a:lnSpc>
                <a:spcPct val="100000"/>
              </a:lnSpc>
              <a:buNone/>
            </a:pPr>
            <a:r>
              <a:rPr lang="en-US" b="1" i="0" dirty="0">
                <a:solidFill>
                  <a:srgbClr val="000000"/>
                </a:solidFill>
                <a:effectLst/>
                <a:latin typeface="Arial"/>
                <a:cs typeface="Arial"/>
              </a:rPr>
              <a:t>Speaker Notes:</a:t>
            </a:r>
            <a:r>
              <a:rPr lang="en-US" b="0" i="0" dirty="0">
                <a:solidFill>
                  <a:srgbClr val="000000"/>
                </a:solidFill>
                <a:effectLst/>
                <a:latin typeface="Arial"/>
                <a:cs typeface="Arial"/>
              </a:rPr>
              <a:t> </a:t>
            </a:r>
            <a:endParaRPr lang="en-US" dirty="0">
              <a:solidFill>
                <a:srgbClr val="000000"/>
              </a:solidFill>
              <a:latin typeface="Arial"/>
              <a:cs typeface="Arial"/>
            </a:endParaRPr>
          </a:p>
          <a:p>
            <a:pPr marL="493395" lvl="1" algn="l" rtl="0" fontAlgn="base">
              <a:lnSpc>
                <a:spcPct val="100000"/>
              </a:lnSpc>
            </a:pPr>
            <a:r>
              <a:rPr lang="en-US" sz="2000" b="0" i="0" dirty="0">
                <a:solidFill>
                  <a:srgbClr val="000000"/>
                </a:solidFill>
                <a:effectLst/>
                <a:latin typeface="Arial"/>
                <a:cs typeface="Arial"/>
              </a:rPr>
              <a:t>Explain the optimal allocation between Facebook and Instagram advertising. </a:t>
            </a:r>
          </a:p>
          <a:p>
            <a:pPr marL="493395" lvl="1" algn="l" rtl="0" fontAlgn="base">
              <a:lnSpc>
                <a:spcPct val="100000"/>
              </a:lnSpc>
            </a:pPr>
            <a:r>
              <a:rPr lang="en-US" sz="2000" b="0" i="0" dirty="0">
                <a:solidFill>
                  <a:srgbClr val="000000"/>
                </a:solidFill>
                <a:effectLst/>
                <a:latin typeface="Arial"/>
                <a:cs typeface="Arial"/>
              </a:rPr>
              <a:t>Describe the maximum achievable sales and how this allocation aligns with business goals. </a:t>
            </a:r>
          </a:p>
          <a:p>
            <a:endParaRPr lang="en-US" dirty="0"/>
          </a:p>
        </p:txBody>
      </p:sp>
      <p:sp>
        <p:nvSpPr>
          <p:cNvPr id="4" name="Slide Number Placeholder 3"/>
          <p:cNvSpPr>
            <a:spLocks noGrp="1"/>
          </p:cNvSpPr>
          <p:nvPr>
            <p:ph type="sldNum" sz="quarter" idx="5"/>
          </p:nvPr>
        </p:nvSpPr>
        <p:spPr/>
        <p:txBody>
          <a:bodyPr/>
          <a:lstStyle/>
          <a:p>
            <a:fld id="{05474E44-92FC-4A6B-B70E-C71180BCC9E7}" type="slidenum">
              <a:rPr lang="en-US" smtClean="0"/>
              <a:t>10</a:t>
            </a:fld>
            <a:endParaRPr lang="en-US"/>
          </a:p>
        </p:txBody>
      </p:sp>
    </p:spTree>
    <p:extLst>
      <p:ext uri="{BB962C8B-B14F-4D97-AF65-F5344CB8AC3E}">
        <p14:creationId xmlns:p14="http://schemas.microsoft.com/office/powerpoint/2010/main" val="107418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11/12/2025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91136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11/12/2025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6968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11/12/2025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025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11/12/2025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78374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11/12/2025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4542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11/12/2025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30006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11/12/2025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97713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11/12/2025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42629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11/12/2025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8871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11/12/2025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92047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11/12/2025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494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11/12/2025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53856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89" r:id="rId7"/>
    <p:sldLayoutId id="2147483688" r:id="rId8"/>
    <p:sldLayoutId id="2147483687" r:id="rId9"/>
    <p:sldLayoutId id="2147483686" r:id="rId10"/>
    <p:sldLayoutId id="2147483679"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nterlocking cogs">
            <a:extLst>
              <a:ext uri="{FF2B5EF4-FFF2-40B4-BE49-F238E27FC236}">
                <a16:creationId xmlns:a16="http://schemas.microsoft.com/office/drawing/2014/main" id="{DB87C39E-B58E-E5EF-F5CB-7F5EEFC106C2}"/>
              </a:ext>
            </a:extLst>
          </p:cNvPr>
          <p:cNvPicPr>
            <a:picLocks noChangeAspect="1"/>
          </p:cNvPicPr>
          <p:nvPr/>
        </p:nvPicPr>
        <p:blipFill>
          <a:blip r:embed="rId3"/>
          <a:srcRect t="9527" b="15473"/>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14BD-D3A2-4069-0D04-409A6B9C756C}"/>
              </a:ext>
            </a:extLst>
          </p:cNvPr>
          <p:cNvSpPr>
            <a:spLocks noGrp="1"/>
          </p:cNvSpPr>
          <p:nvPr>
            <p:ph type="ctrTitle"/>
          </p:nvPr>
        </p:nvSpPr>
        <p:spPr>
          <a:xfrm>
            <a:off x="5484764" y="914400"/>
            <a:ext cx="6046245" cy="3427867"/>
          </a:xfrm>
        </p:spPr>
        <p:txBody>
          <a:bodyPr anchor="t">
            <a:normAutofit/>
          </a:bodyPr>
          <a:lstStyle/>
          <a:p>
            <a:pPr algn="r"/>
            <a:r>
              <a:rPr lang="en-US" dirty="0" err="1">
                <a:solidFill>
                  <a:srgbClr val="FFFFFF"/>
                </a:solidFill>
              </a:rPr>
              <a:t>TechGear</a:t>
            </a:r>
            <a:r>
              <a:rPr lang="en-US" dirty="0">
                <a:solidFill>
                  <a:srgbClr val="FFFFFF"/>
                </a:solidFill>
              </a:rPr>
              <a:t> Inc. Business Data Analysis</a:t>
            </a:r>
          </a:p>
        </p:txBody>
      </p:sp>
      <p:sp>
        <p:nvSpPr>
          <p:cNvPr id="3" name="Subtitle 2">
            <a:extLst>
              <a:ext uri="{FF2B5EF4-FFF2-40B4-BE49-F238E27FC236}">
                <a16:creationId xmlns:a16="http://schemas.microsoft.com/office/drawing/2014/main" id="{BABB2D4A-1810-9952-9F64-524BF54E6599}"/>
              </a:ext>
            </a:extLst>
          </p:cNvPr>
          <p:cNvSpPr>
            <a:spLocks noGrp="1"/>
          </p:cNvSpPr>
          <p:nvPr>
            <p:ph type="subTitle" idx="1"/>
          </p:nvPr>
        </p:nvSpPr>
        <p:spPr>
          <a:xfrm>
            <a:off x="6589835" y="5253051"/>
            <a:ext cx="4941173" cy="1337872"/>
          </a:xfrm>
        </p:spPr>
        <p:txBody>
          <a:bodyPr anchor="t">
            <a:normAutofit/>
          </a:bodyPr>
          <a:lstStyle/>
          <a:p>
            <a:pPr algn="r">
              <a:lnSpc>
                <a:spcPct val="120000"/>
              </a:lnSpc>
            </a:pPr>
            <a:r>
              <a:rPr lang="en-US" sz="1700" dirty="0">
                <a:solidFill>
                  <a:srgbClr val="FFFFFF"/>
                </a:solidFill>
              </a:rPr>
              <a:t>BDA Unit 6 Touchstone</a:t>
            </a:r>
          </a:p>
          <a:p>
            <a:pPr algn="r">
              <a:lnSpc>
                <a:spcPct val="120000"/>
              </a:lnSpc>
            </a:pPr>
            <a:r>
              <a:rPr lang="en-US" sz="1700" dirty="0">
                <a:solidFill>
                  <a:srgbClr val="FFFFFF"/>
                </a:solidFill>
              </a:rPr>
              <a:t>ELENA PONOMAREVA</a:t>
            </a:r>
          </a:p>
          <a:p>
            <a:pPr algn="r">
              <a:lnSpc>
                <a:spcPct val="120000"/>
              </a:lnSpc>
            </a:pPr>
            <a:r>
              <a:rPr lang="en-US" sz="1700" dirty="0">
                <a:solidFill>
                  <a:srgbClr val="FFFFFF"/>
                </a:solidFill>
              </a:rPr>
              <a:t>11/11/2025</a:t>
            </a:r>
          </a:p>
        </p:txBody>
      </p:sp>
      <p:cxnSp>
        <p:nvCxnSpPr>
          <p:cNvPr id="13" name="Straight Connector 1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14087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FAC75-872E-C916-E7FD-7CCFCE69AAC7}"/>
              </a:ext>
            </a:extLst>
          </p:cNvPr>
          <p:cNvSpPr>
            <a:spLocks noGrp="1"/>
          </p:cNvSpPr>
          <p:nvPr>
            <p:ph type="title"/>
          </p:nvPr>
        </p:nvSpPr>
        <p:spPr>
          <a:xfrm>
            <a:off x="650535" y="252806"/>
            <a:ext cx="10890929" cy="1097280"/>
          </a:xfrm>
        </p:spPr>
        <p:txBody>
          <a:bodyPr>
            <a:noAutofit/>
          </a:bodyPr>
          <a:lstStyle/>
          <a:p>
            <a:r>
              <a:rPr lang="en-US" b="1" i="0" dirty="0">
                <a:solidFill>
                  <a:srgbClr val="0F4761"/>
                </a:solidFill>
                <a:effectLst/>
                <a:latin typeface="Arial"/>
                <a:cs typeface="Arial"/>
              </a:rPr>
              <a:t>Data Exploration and Summary</a:t>
            </a:r>
            <a:endParaRPr lang="en-US" dirty="0">
              <a:latin typeface="Arial"/>
              <a:cs typeface="Arial"/>
            </a:endParaRPr>
          </a:p>
        </p:txBody>
      </p:sp>
      <p:pic>
        <p:nvPicPr>
          <p:cNvPr id="7" name="Picture 6">
            <a:extLst>
              <a:ext uri="{FF2B5EF4-FFF2-40B4-BE49-F238E27FC236}">
                <a16:creationId xmlns:a16="http://schemas.microsoft.com/office/drawing/2014/main" id="{E1FF8C53-CC14-DCA2-ADF9-7BD1D315E294}"/>
              </a:ext>
            </a:extLst>
          </p:cNvPr>
          <p:cNvPicPr>
            <a:picLocks noChangeAspect="1"/>
          </p:cNvPicPr>
          <p:nvPr/>
        </p:nvPicPr>
        <p:blipFill>
          <a:blip r:embed="rId3"/>
          <a:stretch>
            <a:fillRect/>
          </a:stretch>
        </p:blipFill>
        <p:spPr>
          <a:xfrm>
            <a:off x="650535" y="1469829"/>
            <a:ext cx="11158673" cy="4593514"/>
          </a:xfrm>
          <a:prstGeom prst="rect">
            <a:avLst/>
          </a:prstGeom>
        </p:spPr>
      </p:pic>
    </p:spTree>
    <p:extLst>
      <p:ext uri="{BB962C8B-B14F-4D97-AF65-F5344CB8AC3E}">
        <p14:creationId xmlns:p14="http://schemas.microsoft.com/office/powerpoint/2010/main" val="3660653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DB039-BB64-631C-2BCA-CE0F6D79F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E04CD-232B-9EF8-BA47-2AE6EA02D55B}"/>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Visualizing Relationships</a:t>
            </a:r>
            <a:endParaRPr lang="en-US" sz="4200" dirty="0">
              <a:latin typeface="Arial"/>
              <a:cs typeface="Arial"/>
            </a:endParaRPr>
          </a:p>
        </p:txBody>
      </p:sp>
      <p:pic>
        <p:nvPicPr>
          <p:cNvPr id="4" name="Picture 3">
            <a:extLst>
              <a:ext uri="{FF2B5EF4-FFF2-40B4-BE49-F238E27FC236}">
                <a16:creationId xmlns:a16="http://schemas.microsoft.com/office/drawing/2014/main" id="{BF4E099B-9EE3-9684-BF37-EA70EF09316C}"/>
              </a:ext>
            </a:extLst>
          </p:cNvPr>
          <p:cNvPicPr>
            <a:picLocks noChangeAspect="1"/>
          </p:cNvPicPr>
          <p:nvPr/>
        </p:nvPicPr>
        <p:blipFill>
          <a:blip r:embed="rId3"/>
          <a:stretch>
            <a:fillRect/>
          </a:stretch>
        </p:blipFill>
        <p:spPr>
          <a:xfrm>
            <a:off x="156054" y="1350087"/>
            <a:ext cx="3948113" cy="3148844"/>
          </a:xfrm>
          <a:prstGeom prst="rect">
            <a:avLst/>
          </a:prstGeom>
        </p:spPr>
      </p:pic>
      <p:pic>
        <p:nvPicPr>
          <p:cNvPr id="6" name="Picture 5">
            <a:extLst>
              <a:ext uri="{FF2B5EF4-FFF2-40B4-BE49-F238E27FC236}">
                <a16:creationId xmlns:a16="http://schemas.microsoft.com/office/drawing/2014/main" id="{C5F5CB21-5082-015C-188D-BFEFC7FB7324}"/>
              </a:ext>
            </a:extLst>
          </p:cNvPr>
          <p:cNvPicPr>
            <a:picLocks noChangeAspect="1"/>
          </p:cNvPicPr>
          <p:nvPr/>
        </p:nvPicPr>
        <p:blipFill>
          <a:blip r:embed="rId4"/>
          <a:stretch>
            <a:fillRect/>
          </a:stretch>
        </p:blipFill>
        <p:spPr>
          <a:xfrm>
            <a:off x="4141403" y="1350087"/>
            <a:ext cx="3986229" cy="3148844"/>
          </a:xfrm>
          <a:prstGeom prst="rect">
            <a:avLst/>
          </a:prstGeom>
        </p:spPr>
      </p:pic>
      <p:pic>
        <p:nvPicPr>
          <p:cNvPr id="8" name="Picture 7">
            <a:extLst>
              <a:ext uri="{FF2B5EF4-FFF2-40B4-BE49-F238E27FC236}">
                <a16:creationId xmlns:a16="http://schemas.microsoft.com/office/drawing/2014/main" id="{4502AF92-76FB-70F1-003B-3200A05115E9}"/>
              </a:ext>
            </a:extLst>
          </p:cNvPr>
          <p:cNvPicPr>
            <a:picLocks noChangeAspect="1"/>
          </p:cNvPicPr>
          <p:nvPr/>
        </p:nvPicPr>
        <p:blipFill>
          <a:blip r:embed="rId5"/>
          <a:stretch>
            <a:fillRect/>
          </a:stretch>
        </p:blipFill>
        <p:spPr>
          <a:xfrm>
            <a:off x="8127632" y="1350088"/>
            <a:ext cx="4030518" cy="3148843"/>
          </a:xfrm>
          <a:prstGeom prst="rect">
            <a:avLst/>
          </a:prstGeom>
        </p:spPr>
      </p:pic>
    </p:spTree>
    <p:extLst>
      <p:ext uri="{BB962C8B-B14F-4D97-AF65-F5344CB8AC3E}">
        <p14:creationId xmlns:p14="http://schemas.microsoft.com/office/powerpoint/2010/main" val="2885826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D2FA5-5280-9486-DD3B-01B1ADD08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183B7-8F8B-E7D5-45A9-A7BD49BAA002}"/>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Simple Linear Regression</a:t>
            </a:r>
            <a:endParaRPr lang="en-US" sz="4200" dirty="0">
              <a:latin typeface="Arial"/>
              <a:cs typeface="Arial"/>
            </a:endParaRPr>
          </a:p>
        </p:txBody>
      </p:sp>
      <p:pic>
        <p:nvPicPr>
          <p:cNvPr id="5" name="Picture 4">
            <a:extLst>
              <a:ext uri="{FF2B5EF4-FFF2-40B4-BE49-F238E27FC236}">
                <a16:creationId xmlns:a16="http://schemas.microsoft.com/office/drawing/2014/main" id="{0036C824-7C9A-CCD3-6E25-4FF7AA260659}"/>
              </a:ext>
            </a:extLst>
          </p:cNvPr>
          <p:cNvPicPr>
            <a:picLocks noChangeAspect="1"/>
          </p:cNvPicPr>
          <p:nvPr/>
        </p:nvPicPr>
        <p:blipFill>
          <a:blip r:embed="rId3"/>
          <a:stretch>
            <a:fillRect/>
          </a:stretch>
        </p:blipFill>
        <p:spPr>
          <a:xfrm>
            <a:off x="5346219" y="1039091"/>
            <a:ext cx="6637963" cy="4158202"/>
          </a:xfrm>
          <a:prstGeom prst="rect">
            <a:avLst/>
          </a:prstGeom>
        </p:spPr>
      </p:pic>
      <p:sp>
        <p:nvSpPr>
          <p:cNvPr id="6" name="TextBox 5">
            <a:extLst>
              <a:ext uri="{FF2B5EF4-FFF2-40B4-BE49-F238E27FC236}">
                <a16:creationId xmlns:a16="http://schemas.microsoft.com/office/drawing/2014/main" id="{E9084D92-A356-A2D1-19A0-D309E788F237}"/>
              </a:ext>
            </a:extLst>
          </p:cNvPr>
          <p:cNvSpPr txBox="1"/>
          <p:nvPr/>
        </p:nvSpPr>
        <p:spPr>
          <a:xfrm>
            <a:off x="454170" y="1350086"/>
            <a:ext cx="4969885" cy="4216539"/>
          </a:xfrm>
          <a:prstGeom prst="rect">
            <a:avLst/>
          </a:prstGeom>
          <a:noFill/>
        </p:spPr>
        <p:txBody>
          <a:bodyPr wrap="square" rtlCol="0">
            <a:spAutoFit/>
          </a:bodyPr>
          <a:lstStyle/>
          <a:p>
            <a:r>
              <a:rPr lang="en-US" sz="3200" b="1" u="sng" dirty="0">
                <a:latin typeface="Calibri"/>
                <a:cs typeface="Calibri"/>
              </a:rPr>
              <a:t>y = 1141.28 + 12.86 * x</a:t>
            </a:r>
            <a:r>
              <a:rPr lang="en-US" sz="3200" b="1" dirty="0">
                <a:latin typeface="Calibri"/>
                <a:cs typeface="Calibri"/>
              </a:rPr>
              <a:t> , </a:t>
            </a:r>
          </a:p>
          <a:p>
            <a:r>
              <a:rPr lang="en-US" sz="2800" b="1" dirty="0">
                <a:latin typeface="Calibri"/>
                <a:cs typeface="Calibri"/>
              </a:rPr>
              <a:t>where x – Facebook ad spend</a:t>
            </a:r>
          </a:p>
          <a:p>
            <a:r>
              <a:rPr lang="en-US" sz="2800" b="1" dirty="0">
                <a:latin typeface="Calibri"/>
                <a:cs typeface="Calibri"/>
              </a:rPr>
              <a:t>            y – Numer of Sales</a:t>
            </a:r>
          </a:p>
          <a:p>
            <a:endParaRPr lang="en-US" b="1" dirty="0">
              <a:latin typeface="Calibri"/>
              <a:cs typeface="Calibri"/>
            </a:endParaRPr>
          </a:p>
          <a:p>
            <a:endParaRPr lang="en-US" b="1" dirty="0">
              <a:latin typeface="Calibri"/>
              <a:cs typeface="Calibri"/>
            </a:endParaRPr>
          </a:p>
          <a:p>
            <a:r>
              <a:rPr lang="en-US" sz="2400" b="1" dirty="0">
                <a:latin typeface="Calibri"/>
                <a:cs typeface="Calibri"/>
              </a:rPr>
              <a:t>Example:</a:t>
            </a:r>
          </a:p>
          <a:p>
            <a:r>
              <a:rPr lang="en-US" sz="2400" b="1" dirty="0">
                <a:latin typeface="Calibri"/>
                <a:cs typeface="Calibri"/>
              </a:rPr>
              <a:t>Facebook ad spend is $300, </a:t>
            </a:r>
          </a:p>
          <a:p>
            <a:r>
              <a:rPr lang="en-US" sz="2400" b="1" dirty="0">
                <a:latin typeface="Calibri"/>
                <a:cs typeface="Calibri"/>
              </a:rPr>
              <a:t>then y = 1141.28 + 12.86 * 300</a:t>
            </a:r>
          </a:p>
          <a:p>
            <a:r>
              <a:rPr lang="en-US" sz="2400" b="1" dirty="0">
                <a:latin typeface="Calibri"/>
                <a:cs typeface="Calibri"/>
              </a:rPr>
              <a:t>y = 4999</a:t>
            </a:r>
          </a:p>
          <a:p>
            <a:endParaRPr lang="en-US" sz="2400" b="1" u="sng" dirty="0">
              <a:latin typeface="Calibri"/>
              <a:cs typeface="Calibri"/>
            </a:endParaRPr>
          </a:p>
          <a:p>
            <a:r>
              <a:rPr lang="en-US" sz="2400" b="1" u="sng" dirty="0">
                <a:latin typeface="Calibri"/>
                <a:cs typeface="Calibri"/>
              </a:rPr>
              <a:t>Predicted Sales 4,999</a:t>
            </a:r>
            <a:endParaRPr lang="en-US" sz="2400" u="sng" dirty="0"/>
          </a:p>
        </p:txBody>
      </p:sp>
    </p:spTree>
    <p:extLst>
      <p:ext uri="{BB962C8B-B14F-4D97-AF65-F5344CB8AC3E}">
        <p14:creationId xmlns:p14="http://schemas.microsoft.com/office/powerpoint/2010/main" val="646910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A808C-018D-1CAF-D865-3031B6B8D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975F7-8688-DAAD-BF4E-98F709ED83B1}"/>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Assessing Model Fit </a:t>
            </a:r>
            <a:endParaRPr lang="en-US" sz="4200" dirty="0">
              <a:latin typeface="Arial"/>
              <a:cs typeface="Arial"/>
            </a:endParaRPr>
          </a:p>
        </p:txBody>
      </p:sp>
      <p:pic>
        <p:nvPicPr>
          <p:cNvPr id="5" name="Picture 4">
            <a:extLst>
              <a:ext uri="{FF2B5EF4-FFF2-40B4-BE49-F238E27FC236}">
                <a16:creationId xmlns:a16="http://schemas.microsoft.com/office/drawing/2014/main" id="{5E5CF40C-D67E-E5A4-0C23-C188227464A3}"/>
              </a:ext>
            </a:extLst>
          </p:cNvPr>
          <p:cNvPicPr>
            <a:picLocks noChangeAspect="1"/>
          </p:cNvPicPr>
          <p:nvPr/>
        </p:nvPicPr>
        <p:blipFill>
          <a:blip r:embed="rId3"/>
          <a:stretch>
            <a:fillRect/>
          </a:stretch>
        </p:blipFill>
        <p:spPr>
          <a:xfrm>
            <a:off x="6407999" y="1350086"/>
            <a:ext cx="5457825" cy="4210050"/>
          </a:xfrm>
          <a:prstGeom prst="rect">
            <a:avLst/>
          </a:prstGeom>
        </p:spPr>
      </p:pic>
      <p:pic>
        <p:nvPicPr>
          <p:cNvPr id="4" name="Picture 3">
            <a:extLst>
              <a:ext uri="{FF2B5EF4-FFF2-40B4-BE49-F238E27FC236}">
                <a16:creationId xmlns:a16="http://schemas.microsoft.com/office/drawing/2014/main" id="{7A6F38F4-4A12-EDB4-65C9-9F345E526990}"/>
              </a:ext>
            </a:extLst>
          </p:cNvPr>
          <p:cNvPicPr>
            <a:picLocks noChangeAspect="1"/>
          </p:cNvPicPr>
          <p:nvPr/>
        </p:nvPicPr>
        <p:blipFill>
          <a:blip r:embed="rId4"/>
          <a:stretch>
            <a:fillRect/>
          </a:stretch>
        </p:blipFill>
        <p:spPr>
          <a:xfrm>
            <a:off x="650535" y="1314450"/>
            <a:ext cx="5534025" cy="4229100"/>
          </a:xfrm>
          <a:prstGeom prst="rect">
            <a:avLst/>
          </a:prstGeom>
        </p:spPr>
      </p:pic>
    </p:spTree>
    <p:extLst>
      <p:ext uri="{BB962C8B-B14F-4D97-AF65-F5344CB8AC3E}">
        <p14:creationId xmlns:p14="http://schemas.microsoft.com/office/powerpoint/2010/main" val="1065362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ED5CD-769B-D6CE-34F6-4029299D4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C4A98-1711-FB6C-596C-037E0232C901}"/>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Multiple Linear Regression (Question 5)</a:t>
            </a:r>
            <a:endParaRPr lang="en-US" sz="4200">
              <a:latin typeface="Arial"/>
              <a:cs typeface="Arial"/>
            </a:endParaRPr>
          </a:p>
        </p:txBody>
      </p:sp>
      <p:sp>
        <p:nvSpPr>
          <p:cNvPr id="3" name="Content Placeholder 2">
            <a:extLst>
              <a:ext uri="{FF2B5EF4-FFF2-40B4-BE49-F238E27FC236}">
                <a16:creationId xmlns:a16="http://schemas.microsoft.com/office/drawing/2014/main" id="{FA014B1F-10EA-038B-B978-D58EFB549452}"/>
              </a:ext>
            </a:extLst>
          </p:cNvPr>
          <p:cNvSpPr>
            <a:spLocks noGrp="1"/>
          </p:cNvSpPr>
          <p:nvPr>
            <p:ph idx="1"/>
          </p:nvPr>
        </p:nvSpPr>
        <p:spPr>
          <a:xfrm>
            <a:off x="640080" y="1656678"/>
            <a:ext cx="10890928" cy="4542954"/>
          </a:xfrm>
        </p:spPr>
        <p:txBody>
          <a:bodyPr vert="horz" lIns="91440" tIns="45720" rIns="91440" bIns="45720" rtlCol="0" anchor="t">
            <a:normAutofit/>
          </a:bodyPr>
          <a:lstStyle/>
          <a:p>
            <a:pPr marL="0" indent="0" algn="l" rtl="0" fontAlgn="base">
              <a:lnSpc>
                <a:spcPct val="100000"/>
              </a:lnSpc>
              <a:buNone/>
            </a:pPr>
            <a:endParaRPr lang="en-US" b="0" i="0" dirty="0">
              <a:solidFill>
                <a:srgbClr val="000000"/>
              </a:solidFill>
              <a:effectLst/>
              <a:latin typeface="Arial"/>
              <a:cs typeface="Arial"/>
            </a:endParaRPr>
          </a:p>
        </p:txBody>
      </p:sp>
    </p:spTree>
    <p:extLst>
      <p:ext uri="{BB962C8B-B14F-4D97-AF65-F5344CB8AC3E}">
        <p14:creationId xmlns:p14="http://schemas.microsoft.com/office/powerpoint/2010/main" val="1283174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CDBAE-4CE1-A60B-5CDD-665F263B7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0BC04-43E0-6BFA-4863-909FD177214D}"/>
              </a:ext>
            </a:extLst>
          </p:cNvPr>
          <p:cNvSpPr>
            <a:spLocks noGrp="1"/>
          </p:cNvSpPr>
          <p:nvPr>
            <p:ph type="title"/>
          </p:nvPr>
        </p:nvSpPr>
        <p:spPr>
          <a:xfrm>
            <a:off x="650535" y="252806"/>
            <a:ext cx="10890929" cy="1097280"/>
          </a:xfrm>
        </p:spPr>
        <p:txBody>
          <a:bodyPr>
            <a:normAutofit/>
          </a:bodyPr>
          <a:lstStyle/>
          <a:p>
            <a:r>
              <a:rPr lang="en-US" sz="4200" b="1" i="0" dirty="0">
                <a:solidFill>
                  <a:srgbClr val="0F4761"/>
                </a:solidFill>
                <a:effectLst/>
                <a:latin typeface="Arial"/>
                <a:cs typeface="Arial"/>
              </a:rPr>
              <a:t>Forecasting (Question 6) </a:t>
            </a:r>
            <a:endParaRPr lang="en-US" sz="4200">
              <a:latin typeface="Arial"/>
              <a:cs typeface="Arial"/>
            </a:endParaRPr>
          </a:p>
        </p:txBody>
      </p:sp>
      <p:sp>
        <p:nvSpPr>
          <p:cNvPr id="3" name="Content Placeholder 2">
            <a:extLst>
              <a:ext uri="{FF2B5EF4-FFF2-40B4-BE49-F238E27FC236}">
                <a16:creationId xmlns:a16="http://schemas.microsoft.com/office/drawing/2014/main" id="{83CA3881-D965-D811-EFB5-978351C473AB}"/>
              </a:ext>
            </a:extLst>
          </p:cNvPr>
          <p:cNvSpPr>
            <a:spLocks noGrp="1"/>
          </p:cNvSpPr>
          <p:nvPr>
            <p:ph idx="1"/>
          </p:nvPr>
        </p:nvSpPr>
        <p:spPr>
          <a:xfrm>
            <a:off x="640080" y="1656678"/>
            <a:ext cx="10890928" cy="4542954"/>
          </a:xfrm>
        </p:spPr>
        <p:txBody>
          <a:bodyPr vert="horz" lIns="91440" tIns="45720" rIns="91440" bIns="45720" rtlCol="0" anchor="t">
            <a:normAutofit/>
          </a:bodyPr>
          <a:lstStyle/>
          <a:p>
            <a:pPr marL="0" indent="0" algn="l" rtl="0" fontAlgn="base">
              <a:lnSpc>
                <a:spcPct val="100000"/>
              </a:lnSpc>
              <a:buNone/>
            </a:pPr>
            <a:endParaRPr lang="en-US" b="0" i="0" dirty="0">
              <a:solidFill>
                <a:srgbClr val="000000"/>
              </a:solidFill>
              <a:effectLst/>
              <a:latin typeface="Arial"/>
              <a:cs typeface="Arial"/>
            </a:endParaRPr>
          </a:p>
        </p:txBody>
      </p:sp>
    </p:spTree>
    <p:extLst>
      <p:ext uri="{BB962C8B-B14F-4D97-AF65-F5344CB8AC3E}">
        <p14:creationId xmlns:p14="http://schemas.microsoft.com/office/powerpoint/2010/main" val="2843816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CEEF9-34E5-034C-C9BE-16EB75DA3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CA468-CF4A-2C03-ADBE-5460A2FC66D1}"/>
              </a:ext>
            </a:extLst>
          </p:cNvPr>
          <p:cNvSpPr>
            <a:spLocks noGrp="1"/>
          </p:cNvSpPr>
          <p:nvPr>
            <p:ph type="title"/>
          </p:nvPr>
        </p:nvSpPr>
        <p:spPr>
          <a:xfrm>
            <a:off x="650535" y="252806"/>
            <a:ext cx="10890929" cy="1097280"/>
          </a:xfrm>
        </p:spPr>
        <p:txBody>
          <a:bodyPr/>
          <a:lstStyle/>
          <a:p>
            <a:r>
              <a:rPr lang="en-US" sz="4200" b="1" i="0" dirty="0">
                <a:solidFill>
                  <a:srgbClr val="0F4761"/>
                </a:solidFill>
                <a:effectLst/>
                <a:latin typeface="Arial"/>
                <a:cs typeface="Arial"/>
              </a:rPr>
              <a:t>Machine Learning Models (Question 7)</a:t>
            </a:r>
            <a:r>
              <a:rPr lang="en-US" sz="4200" b="0" i="0" dirty="0">
                <a:solidFill>
                  <a:srgbClr val="0F4761"/>
                </a:solidFill>
                <a:effectLst/>
                <a:latin typeface="Arial"/>
                <a:cs typeface="Arial"/>
              </a:rPr>
              <a:t> </a:t>
            </a:r>
            <a:endParaRPr lang="en-US" sz="4200">
              <a:latin typeface="Arial"/>
              <a:cs typeface="Arial"/>
            </a:endParaRPr>
          </a:p>
        </p:txBody>
      </p:sp>
      <p:sp>
        <p:nvSpPr>
          <p:cNvPr id="3" name="Content Placeholder 2">
            <a:extLst>
              <a:ext uri="{FF2B5EF4-FFF2-40B4-BE49-F238E27FC236}">
                <a16:creationId xmlns:a16="http://schemas.microsoft.com/office/drawing/2014/main" id="{7D703B0E-4DAF-8511-D024-1FB3DC5B8CD3}"/>
              </a:ext>
            </a:extLst>
          </p:cNvPr>
          <p:cNvSpPr>
            <a:spLocks noGrp="1"/>
          </p:cNvSpPr>
          <p:nvPr>
            <p:ph idx="1"/>
          </p:nvPr>
        </p:nvSpPr>
        <p:spPr>
          <a:xfrm>
            <a:off x="640080" y="1423162"/>
            <a:ext cx="10890928" cy="4542954"/>
          </a:xfrm>
        </p:spPr>
        <p:txBody>
          <a:bodyPr vert="horz" lIns="91440" tIns="45720" rIns="91440" bIns="45720" rtlCol="0" anchor="t">
            <a:noAutofit/>
          </a:bodyPr>
          <a:lstStyle/>
          <a:p>
            <a:pPr marL="264795" lvl="1" indent="0" algn="l" rtl="0" fontAlgn="base">
              <a:lnSpc>
                <a:spcPts val="1657"/>
              </a:lnSpc>
              <a:spcAft>
                <a:spcPts val="800"/>
              </a:spcAft>
              <a:buNone/>
            </a:pPr>
            <a:endParaRPr lang="en-US" b="0" i="0" dirty="0">
              <a:solidFill>
                <a:srgbClr val="000000"/>
              </a:solidFill>
              <a:effectLst/>
              <a:latin typeface="Arial"/>
              <a:cs typeface="Arial"/>
            </a:endParaRPr>
          </a:p>
        </p:txBody>
      </p:sp>
    </p:spTree>
    <p:extLst>
      <p:ext uri="{BB962C8B-B14F-4D97-AF65-F5344CB8AC3E}">
        <p14:creationId xmlns:p14="http://schemas.microsoft.com/office/powerpoint/2010/main" val="3657687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029A8-0BB4-17F8-39CF-FAE49EFB3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CC9E1-EC3E-93DF-4DCA-DBC09F2B95BA}"/>
              </a:ext>
            </a:extLst>
          </p:cNvPr>
          <p:cNvSpPr>
            <a:spLocks noGrp="1"/>
          </p:cNvSpPr>
          <p:nvPr>
            <p:ph type="title"/>
          </p:nvPr>
        </p:nvSpPr>
        <p:spPr>
          <a:xfrm>
            <a:off x="650535" y="252806"/>
            <a:ext cx="10890929" cy="1097280"/>
          </a:xfrm>
        </p:spPr>
        <p:txBody>
          <a:bodyPr/>
          <a:lstStyle/>
          <a:p>
            <a:r>
              <a:rPr lang="en-US" sz="4200" b="1" i="0" dirty="0">
                <a:solidFill>
                  <a:srgbClr val="0F4761"/>
                </a:solidFill>
                <a:effectLst/>
                <a:latin typeface="Arial"/>
                <a:cs typeface="Arial"/>
              </a:rPr>
              <a:t>Monte Carlo Simulation (Question 8)</a:t>
            </a:r>
            <a:r>
              <a:rPr lang="en-US" sz="4200" b="0" i="0" dirty="0">
                <a:solidFill>
                  <a:srgbClr val="0F4761"/>
                </a:solidFill>
                <a:effectLst/>
                <a:latin typeface="Arial"/>
                <a:cs typeface="Arial"/>
              </a:rPr>
              <a:t> </a:t>
            </a:r>
            <a:endParaRPr lang="en-US" sz="4200">
              <a:latin typeface="Arial"/>
              <a:cs typeface="Arial"/>
            </a:endParaRPr>
          </a:p>
        </p:txBody>
      </p:sp>
      <p:sp>
        <p:nvSpPr>
          <p:cNvPr id="3" name="Content Placeholder 2">
            <a:extLst>
              <a:ext uri="{FF2B5EF4-FFF2-40B4-BE49-F238E27FC236}">
                <a16:creationId xmlns:a16="http://schemas.microsoft.com/office/drawing/2014/main" id="{F9C1A13D-58E7-2F5E-68B1-96686E3E48FA}"/>
              </a:ext>
            </a:extLst>
          </p:cNvPr>
          <p:cNvSpPr>
            <a:spLocks noGrp="1"/>
          </p:cNvSpPr>
          <p:nvPr>
            <p:ph idx="1"/>
          </p:nvPr>
        </p:nvSpPr>
        <p:spPr>
          <a:xfrm>
            <a:off x="652370" y="1349420"/>
            <a:ext cx="10890928" cy="4542954"/>
          </a:xfrm>
        </p:spPr>
        <p:txBody>
          <a:bodyPr vert="horz" lIns="91440" tIns="45720" rIns="91440" bIns="45720" rtlCol="0" anchor="t">
            <a:noAutofit/>
          </a:bodyPr>
          <a:lstStyle/>
          <a:p>
            <a:pPr marL="0" indent="0" algn="l" rtl="0" fontAlgn="base">
              <a:lnSpc>
                <a:spcPct val="100000"/>
              </a:lnSpc>
              <a:buNone/>
            </a:pPr>
            <a:endParaRPr lang="en-US" b="0" i="0" dirty="0">
              <a:solidFill>
                <a:srgbClr val="000000"/>
              </a:solidFill>
              <a:effectLst/>
              <a:latin typeface="Arial"/>
              <a:cs typeface="Arial"/>
            </a:endParaRPr>
          </a:p>
        </p:txBody>
      </p:sp>
    </p:spTree>
    <p:extLst>
      <p:ext uri="{BB962C8B-B14F-4D97-AF65-F5344CB8AC3E}">
        <p14:creationId xmlns:p14="http://schemas.microsoft.com/office/powerpoint/2010/main" val="1838215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A69BA-9F59-BE48-87F0-0B76E453E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A1E80-8CDA-E1D2-F0F0-21947CB4E275}"/>
              </a:ext>
            </a:extLst>
          </p:cNvPr>
          <p:cNvSpPr>
            <a:spLocks noGrp="1"/>
          </p:cNvSpPr>
          <p:nvPr>
            <p:ph type="title"/>
          </p:nvPr>
        </p:nvSpPr>
        <p:spPr>
          <a:xfrm>
            <a:off x="650535" y="252806"/>
            <a:ext cx="10890929" cy="1097280"/>
          </a:xfrm>
        </p:spPr>
        <p:txBody>
          <a:bodyPr/>
          <a:lstStyle/>
          <a:p>
            <a:r>
              <a:rPr lang="en-US" sz="4200" b="1" i="0" dirty="0">
                <a:solidFill>
                  <a:srgbClr val="0F4761"/>
                </a:solidFill>
                <a:effectLst/>
                <a:latin typeface="Arial"/>
                <a:cs typeface="Arial"/>
              </a:rPr>
              <a:t>Linear Programming (Question 9)</a:t>
            </a:r>
            <a:r>
              <a:rPr lang="en-US" sz="4200" b="0" i="0" dirty="0">
                <a:solidFill>
                  <a:srgbClr val="0F4761"/>
                </a:solidFill>
                <a:effectLst/>
                <a:latin typeface="Arial"/>
                <a:cs typeface="Arial"/>
              </a:rPr>
              <a:t> </a:t>
            </a:r>
            <a:endParaRPr lang="en-US" sz="4200">
              <a:latin typeface="Arial"/>
              <a:cs typeface="Arial"/>
            </a:endParaRPr>
          </a:p>
        </p:txBody>
      </p:sp>
      <p:sp>
        <p:nvSpPr>
          <p:cNvPr id="3" name="Content Placeholder 2">
            <a:extLst>
              <a:ext uri="{FF2B5EF4-FFF2-40B4-BE49-F238E27FC236}">
                <a16:creationId xmlns:a16="http://schemas.microsoft.com/office/drawing/2014/main" id="{D793DEB0-17DC-2C7B-84BD-3D65DBBC3635}"/>
              </a:ext>
            </a:extLst>
          </p:cNvPr>
          <p:cNvSpPr>
            <a:spLocks noGrp="1"/>
          </p:cNvSpPr>
          <p:nvPr>
            <p:ph idx="1"/>
          </p:nvPr>
        </p:nvSpPr>
        <p:spPr>
          <a:xfrm>
            <a:off x="640080" y="1656678"/>
            <a:ext cx="10890928" cy="4542954"/>
          </a:xfrm>
        </p:spPr>
        <p:txBody>
          <a:bodyPr vert="horz" lIns="91440" tIns="45720" rIns="91440" bIns="45720" rtlCol="0" anchor="t">
            <a:normAutofit/>
          </a:bodyPr>
          <a:lstStyle/>
          <a:p>
            <a:pPr marL="0" indent="0" algn="l" rtl="0" fontAlgn="base">
              <a:lnSpc>
                <a:spcPts val="1657"/>
              </a:lnSpc>
              <a:spcAft>
                <a:spcPts val="800"/>
              </a:spcAft>
              <a:buNone/>
            </a:pPr>
            <a:endParaRPr lang="en-US" b="0" i="0" dirty="0">
              <a:solidFill>
                <a:srgbClr val="000000"/>
              </a:solidFill>
              <a:effectLst/>
              <a:latin typeface="Arial"/>
              <a:cs typeface="Arial"/>
            </a:endParaRPr>
          </a:p>
        </p:txBody>
      </p:sp>
    </p:spTree>
    <p:extLst>
      <p:ext uri="{BB962C8B-B14F-4D97-AF65-F5344CB8AC3E}">
        <p14:creationId xmlns:p14="http://schemas.microsoft.com/office/powerpoint/2010/main" val="1504570548"/>
      </p:ext>
    </p:extLst>
  </p:cSld>
  <p:clrMapOvr>
    <a:masterClrMapping/>
  </p:clrMapOvr>
</p:sld>
</file>

<file path=ppt/theme/theme1.xml><?xml version="1.0" encoding="utf-8"?>
<a:theme xmlns:a="http://schemas.openxmlformats.org/drawingml/2006/main" name="DashVTI">
  <a:themeElements>
    <a:clrScheme name="AnalogousFromLightSeedLeftStep">
      <a:dk1>
        <a:srgbClr val="000000"/>
      </a:dk1>
      <a:lt1>
        <a:srgbClr val="FFFFFF"/>
      </a:lt1>
      <a:dk2>
        <a:srgbClr val="242A41"/>
      </a:dk2>
      <a:lt2>
        <a:srgbClr val="E8E7E2"/>
      </a:lt2>
      <a:accent1>
        <a:srgbClr val="96A0C6"/>
      </a:accent1>
      <a:accent2>
        <a:srgbClr val="7FA4BA"/>
      </a:accent2>
      <a:accent3>
        <a:srgbClr val="82ACAA"/>
      </a:accent3>
      <a:accent4>
        <a:srgbClr val="77AE94"/>
      </a:accent4>
      <a:accent5>
        <a:srgbClr val="83AF89"/>
      </a:accent5>
      <a:accent6>
        <a:srgbClr val="88AF77"/>
      </a:accent6>
      <a:hlink>
        <a:srgbClr val="8E8256"/>
      </a:hlink>
      <a:folHlink>
        <a:srgbClr val="7F7F7F"/>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b71b97d-9a65-4f5a-80e4-73af0d9029ad">
      <Terms xmlns="http://schemas.microsoft.com/office/infopath/2007/PartnerControls"/>
    </lcf76f155ced4ddcb4097134ff3c332f>
    <TaxCatchAll xmlns="c7bf0040-ac83-4da7-b072-3c1b65a214b3" xsi:nil="true"/>
    <Status xmlns="cb71b97d-9a65-4f5a-80e4-73af0d9029ad" xsi:nil="true"/>
    <Tag xmlns="cb71b97d-9a65-4f5a-80e4-73af0d9029ad" xsi:nil="true"/>
    <Year xmlns="cb71b97d-9a65-4f5a-80e4-73af0d9029a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D084E42E705654B9CF1FB4D1B6F86C3" ma:contentTypeVersion="19" ma:contentTypeDescription="Create a new document." ma:contentTypeScope="" ma:versionID="537e09eec9479df6b3b9277a829eeea6">
  <xsd:schema xmlns:xsd="http://www.w3.org/2001/XMLSchema" xmlns:xs="http://www.w3.org/2001/XMLSchema" xmlns:p="http://schemas.microsoft.com/office/2006/metadata/properties" xmlns:ns2="cb71b97d-9a65-4f5a-80e4-73af0d9029ad" xmlns:ns3="c7bf0040-ac83-4da7-b072-3c1b65a214b3" targetNamespace="http://schemas.microsoft.com/office/2006/metadata/properties" ma:root="true" ma:fieldsID="954325e78edeaac226e03e3e0adada46" ns2:_="" ns3:_="">
    <xsd:import namespace="cb71b97d-9a65-4f5a-80e4-73af0d9029ad"/>
    <xsd:import namespace="c7bf0040-ac83-4da7-b072-3c1b65a214b3"/>
    <xsd:element name="properties">
      <xsd:complexType>
        <xsd:sequence>
          <xsd:element name="documentManagement">
            <xsd:complexType>
              <xsd:all>
                <xsd:element ref="ns2:Year" minOccurs="0"/>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CR" minOccurs="0"/>
                <xsd:element ref="ns2:MediaServiceLocation" minOccurs="0"/>
                <xsd:element ref="ns2:Tag" minOccurs="0"/>
                <xsd:element ref="ns2: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71b97d-9a65-4f5a-80e4-73af0d9029ad" elementFormDefault="qualified">
    <xsd:import namespace="http://schemas.microsoft.com/office/2006/documentManagement/types"/>
    <xsd:import namespace="http://schemas.microsoft.com/office/infopath/2007/PartnerControls"/>
    <xsd:element name="Year" ma:index="8" nillable="true" ma:displayName="Year" ma:format="Dropdown" ma:internalName="Year">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ee6c04-f50c-48a2-8aad-e6d71caf9b84"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Tag" ma:index="23" nillable="true" ma:displayName="Tag" ma:format="Dropdown" ma:indexed="true" ma:internalName="Tag">
      <xsd:simpleType>
        <xsd:restriction base="dms:Choice">
          <xsd:enumeration value="RGE"/>
          <xsd:enumeration value="Short Course"/>
          <xsd:enumeration value="Full Course"/>
        </xsd:restriction>
      </xsd:simpleType>
    </xsd:element>
    <xsd:element name="Status" ma:index="24" nillable="true" ma:displayName="Status" ma:format="Dropdown" ma:indexed="true" ma:internalName="Status">
      <xsd:simpleType>
        <xsd:restriction base="dms:Choice">
          <xsd:enumeration value="In Development"/>
          <xsd:enumeration value="Active"/>
          <xsd:enumeration value="In Review"/>
          <xsd:enumeration value="Closed"/>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f0040-ac83-4da7-b072-3c1b65a214b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b1ddd0b-41e2-44a6-9b01-a6fda7cf7cf7}" ma:internalName="TaxCatchAll" ma:showField="CatchAllData" ma:web="c7bf0040-ac83-4da7-b072-3c1b65a214b3">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8E5A13-F6C9-49DB-8950-2EE5509C8A8B}">
  <ds:schemaRefs>
    <ds:schemaRef ds:uri="http://www.w3.org/XML/1998/namespace"/>
    <ds:schemaRef ds:uri="http://schemas.microsoft.com/office/2006/metadata/properties"/>
    <ds:schemaRef ds:uri="http://purl.org/dc/dcmitype/"/>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http://purl.org/dc/terms/"/>
    <ds:schemaRef ds:uri="c7bf0040-ac83-4da7-b072-3c1b65a214b3"/>
    <ds:schemaRef ds:uri="cb71b97d-9a65-4f5a-80e4-73af0d9029ad"/>
  </ds:schemaRefs>
</ds:datastoreItem>
</file>

<file path=customXml/itemProps2.xml><?xml version="1.0" encoding="utf-8"?>
<ds:datastoreItem xmlns:ds="http://schemas.openxmlformats.org/officeDocument/2006/customXml" ds:itemID="{2F184BDE-BCF0-4A4C-AF39-985C7EC788E7}">
  <ds:schemaRefs>
    <ds:schemaRef ds:uri="http://schemas.microsoft.com/sharepoint/v3/contenttype/forms"/>
  </ds:schemaRefs>
</ds:datastoreItem>
</file>

<file path=customXml/itemProps3.xml><?xml version="1.0" encoding="utf-8"?>
<ds:datastoreItem xmlns:ds="http://schemas.openxmlformats.org/officeDocument/2006/customXml" ds:itemID="{FE333F42-FFBA-4D39-81DC-C33E6413E0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71b97d-9a65-4f5a-80e4-73af0d9029ad"/>
    <ds:schemaRef ds:uri="c7bf0040-ac83-4da7-b072-3c1b65a214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1552</TotalTime>
  <Words>1338</Words>
  <Application>Microsoft Office PowerPoint</Application>
  <PresentationFormat>Widescreen</PresentationFormat>
  <Paragraphs>90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Grandview Display</vt:lpstr>
      <vt:lpstr>Wingdings</vt:lpstr>
      <vt:lpstr>DashVTI</vt:lpstr>
      <vt:lpstr>TechGear Inc. Business Data Analysis</vt:lpstr>
      <vt:lpstr>Data Exploration and Summary</vt:lpstr>
      <vt:lpstr>Visualizing Relationships</vt:lpstr>
      <vt:lpstr>Simple Linear Regression</vt:lpstr>
      <vt:lpstr>Assessing Model Fit </vt:lpstr>
      <vt:lpstr>Multiple Linear Regression (Question 5)</vt:lpstr>
      <vt:lpstr>Forecasting (Question 6) </vt:lpstr>
      <vt:lpstr>Machine Learning Models (Question 7) </vt:lpstr>
      <vt:lpstr>Monte Carlo Simulation (Question 8) </vt:lpstr>
      <vt:lpstr>Linear Programming (Question 9)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Estremera, Melissa</dc:creator>
  <cp:lastModifiedBy>Elena P</cp:lastModifiedBy>
  <cp:revision>131</cp:revision>
  <dcterms:created xsi:type="dcterms:W3CDTF">2025-02-19T20:00:41Z</dcterms:created>
  <dcterms:modified xsi:type="dcterms:W3CDTF">2025-11-12T14:56:23Z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0x010100DD084E42E705654B9CF1FB4D1B6F86C3</vt:lpwstr>
  </property>
  <property fmtid="{D5CDD505-2E9C-101B-9397-08002B2CF9AE}" pid="3" name="MediaServiceImageTags">
    <vt:lpwstr/>
  </property>
</Properties>
</file>