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4"/>
  </p:sldMasterIdLst>
  <p:notesMasterIdLst>
    <p:notesMasterId r:id="rId28"/>
  </p:notesMasterIdLst>
  <p:sldIdLst>
    <p:sldId id="256" r:id="rId5"/>
    <p:sldId id="257" r:id="rId6"/>
    <p:sldId id="266" r:id="rId7"/>
    <p:sldId id="258" r:id="rId8"/>
    <p:sldId id="267" r:id="rId9"/>
    <p:sldId id="277" r:id="rId10"/>
    <p:sldId id="259" r:id="rId11"/>
    <p:sldId id="268" r:id="rId12"/>
    <p:sldId id="260" r:id="rId13"/>
    <p:sldId id="269" r:id="rId14"/>
    <p:sldId id="261" r:id="rId15"/>
    <p:sldId id="270" r:id="rId16"/>
    <p:sldId id="262" r:id="rId17"/>
    <p:sldId id="271" r:id="rId18"/>
    <p:sldId id="274" r:id="rId19"/>
    <p:sldId id="263" r:id="rId20"/>
    <p:sldId id="272" r:id="rId21"/>
    <p:sldId id="275" r:id="rId22"/>
    <p:sldId id="264" r:id="rId23"/>
    <p:sldId id="273" r:id="rId24"/>
    <p:sldId id="276" r:id="rId25"/>
    <p:sldId id="265"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95EEF-3BEA-154F-682C-44EC6C7DEFCC}" v="164" dt="2025-02-20T14:30:24.974"/>
    <p1510:client id="{78A6263C-519B-1FF2-1217-2E820FCB569E}" v="13" dt="2025-02-20T14:09:13.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0943" autoAdjust="0"/>
  </p:normalViewPr>
  <p:slideViewPr>
    <p:cSldViewPr snapToGrid="0">
      <p:cViewPr varScale="1">
        <p:scale>
          <a:sx n="46" d="100"/>
          <a:sy n="46" d="100"/>
        </p:scale>
        <p:origin x="1416"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0ACAD-2FDF-44D8-85A2-BF2803DE170C}"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74E44-92FC-4A6B-B70E-C71180BCC9E7}" type="slidenum">
              <a:rPr lang="en-US" smtClean="0"/>
              <a:t>‹#›</a:t>
            </a:fld>
            <a:endParaRPr lang="en-US"/>
          </a:p>
        </p:txBody>
      </p:sp>
    </p:spTree>
    <p:extLst>
      <p:ext uri="{BB962C8B-B14F-4D97-AF65-F5344CB8AC3E}">
        <p14:creationId xmlns:p14="http://schemas.microsoft.com/office/powerpoint/2010/main" val="2695315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Hello, my name is Elena and today we discuss </a:t>
            </a:r>
            <a:r>
              <a:rPr lang="en-US" sz="1200" b="0" i="0" kern="1200" dirty="0" err="1">
                <a:solidFill>
                  <a:schemeClr val="tx1"/>
                </a:solidFill>
                <a:effectLst/>
                <a:latin typeface="+mn-lt"/>
                <a:ea typeface="+mn-ea"/>
                <a:cs typeface="+mn-cs"/>
              </a:rPr>
              <a:t>TechGear</a:t>
            </a:r>
            <a:r>
              <a:rPr lang="en-US" sz="1200" b="0" i="0" kern="1200" dirty="0">
                <a:solidFill>
                  <a:schemeClr val="tx1"/>
                </a:solidFill>
                <a:effectLst/>
                <a:latin typeface="+mn-lt"/>
                <a:ea typeface="+mn-ea"/>
                <a:cs typeface="+mn-cs"/>
              </a:rPr>
              <a:t> Inc case. Using the historical sales data, we build predictive models and, with prescriptive analytics, provide actionable insights on how to improve sales and marketing strategies to increase profitability and customer satisfaction.</a:t>
            </a: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1</a:t>
            </a:fld>
            <a:endParaRPr lang="en-US"/>
          </a:p>
        </p:txBody>
      </p:sp>
    </p:spTree>
    <p:extLst>
      <p:ext uri="{BB962C8B-B14F-4D97-AF65-F5344CB8AC3E}">
        <p14:creationId xmlns:p14="http://schemas.microsoft.com/office/powerpoint/2010/main" val="2568246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begin our analysis, let’s review the historical sales data that we will use. The table represents data for the period from January 2020 to December 2024. The data includes the total number of sales for the month, the amount of money spent on advertising on each social media platform (Facebook and Instagram), and the discount rate applied to sales the month. Based on the average amounts we calculated, we see that the average Facebook ad spend is $297.27, while Instagram ad spend is lower at $192.53. Furthermore, the company offered an average discount of 12.38%. </a:t>
            </a:r>
          </a:p>
        </p:txBody>
      </p:sp>
      <p:sp>
        <p:nvSpPr>
          <p:cNvPr id="4" name="Slide Number Placeholder 3"/>
          <p:cNvSpPr>
            <a:spLocks noGrp="1"/>
          </p:cNvSpPr>
          <p:nvPr>
            <p:ph type="sldNum" sz="quarter" idx="5"/>
          </p:nvPr>
        </p:nvSpPr>
        <p:spPr/>
        <p:txBody>
          <a:bodyPr/>
          <a:lstStyle/>
          <a:p>
            <a:fld id="{05474E44-92FC-4A6B-B70E-C71180BCC9E7}" type="slidenum">
              <a:rPr lang="en-US" smtClean="0"/>
              <a:t>2</a:t>
            </a:fld>
            <a:endParaRPr lang="en-US"/>
          </a:p>
        </p:txBody>
      </p:sp>
    </p:spTree>
    <p:extLst>
      <p:ext uri="{BB962C8B-B14F-4D97-AF65-F5344CB8AC3E}">
        <p14:creationId xmlns:p14="http://schemas.microsoft.com/office/powerpoint/2010/main" val="1086665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3</a:t>
            </a:fld>
            <a:endParaRPr lang="en-US"/>
          </a:p>
        </p:txBody>
      </p:sp>
    </p:spTree>
    <p:extLst>
      <p:ext uri="{BB962C8B-B14F-4D97-AF65-F5344CB8AC3E}">
        <p14:creationId xmlns:p14="http://schemas.microsoft.com/office/powerpoint/2010/main" val="3239338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visualization allows us to see patterns, relationship, and trends that may not be apparent from analyzing raw data alone. To visualize the relationship between sales and each of variable (</a:t>
            </a:r>
            <a:r>
              <a:rPr lang="en-US" sz="1200" b="0" i="0" dirty="0">
                <a:solidFill>
                  <a:srgbClr val="000000"/>
                </a:solidFill>
                <a:effectLst/>
                <a:latin typeface="Arial"/>
                <a:cs typeface="Arial"/>
              </a:rPr>
              <a:t>Facebook ad spend, Instagram ad spend, Discount rate), we created three scatter plots. </a:t>
            </a:r>
            <a:r>
              <a:rPr lang="en-US" sz="1200" b="0" i="0" kern="1200" dirty="0">
                <a:solidFill>
                  <a:schemeClr val="tx1"/>
                </a:solidFill>
                <a:effectLst/>
                <a:latin typeface="+mn-lt"/>
                <a:ea typeface="+mn-ea"/>
                <a:cs typeface="+mn-cs"/>
              </a:rPr>
              <a:t>The first two scatter plots show that Facebook and Instagram ad spend, and Number of Sales have a positive linear relationship. The linear relationship of the plotted points indicates moderate spread, suggesting there is a medium or strong correlation, which typically means that as one variable increases, the other variable also tends to increase. The next steps are to calculate the correlation coefficient and conduct a regression analysis to demonstrate the strength of this relationship. </a:t>
            </a:r>
            <a:endParaRPr lang="en-US" sz="1200" b="0" i="0" dirty="0">
              <a:solidFill>
                <a:srgbClr val="000000"/>
              </a:solidFill>
              <a:effectLst/>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According to the “Discount Rate vs Sales” scatter plot, the relationship between the two variables is weakly correlated. The points are widely dispersed, making a linear trend difficult to detect visually.</a:t>
            </a:r>
          </a:p>
        </p:txBody>
      </p:sp>
      <p:sp>
        <p:nvSpPr>
          <p:cNvPr id="4" name="Slide Number Placeholder 3"/>
          <p:cNvSpPr>
            <a:spLocks noGrp="1"/>
          </p:cNvSpPr>
          <p:nvPr>
            <p:ph type="sldNum" sz="quarter" idx="5"/>
          </p:nvPr>
        </p:nvSpPr>
        <p:spPr/>
        <p:txBody>
          <a:bodyPr/>
          <a:lstStyle/>
          <a:p>
            <a:fld id="{05474E44-92FC-4A6B-B70E-C71180BCC9E7}" type="slidenum">
              <a:rPr lang="en-US" smtClean="0"/>
              <a:t>4</a:t>
            </a:fld>
            <a:endParaRPr lang="en-US"/>
          </a:p>
        </p:txBody>
      </p:sp>
    </p:spTree>
    <p:extLst>
      <p:ext uri="{BB962C8B-B14F-4D97-AF65-F5344CB8AC3E}">
        <p14:creationId xmlns:p14="http://schemas.microsoft.com/office/powerpoint/2010/main" val="3144986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C2A9-AB80-3BFA-DBF9-DDEB85496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27A81-A7A9-BC9D-FFFE-7E2F7B4F9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DD5EE-CEDA-06A9-2A00-EB12112596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BB79B-148C-6C92-A2A2-84C9231DE29D}"/>
              </a:ext>
            </a:extLst>
          </p:cNvPr>
          <p:cNvSpPr>
            <a:spLocks noGrp="1"/>
          </p:cNvSpPr>
          <p:nvPr>
            <p:ph type="sldNum" sz="quarter" idx="5"/>
          </p:nvPr>
        </p:nvSpPr>
        <p:spPr/>
        <p:txBody>
          <a:bodyPr/>
          <a:lstStyle/>
          <a:p>
            <a:fld id="{05474E44-92FC-4A6B-B70E-C71180BCC9E7}" type="slidenum">
              <a:rPr lang="en-US" smtClean="0"/>
              <a:t>5</a:t>
            </a:fld>
            <a:endParaRPr lang="en-US"/>
          </a:p>
        </p:txBody>
      </p:sp>
    </p:spTree>
    <p:extLst>
      <p:ext uri="{BB962C8B-B14F-4D97-AF65-F5344CB8AC3E}">
        <p14:creationId xmlns:p14="http://schemas.microsoft.com/office/powerpoint/2010/main" val="3341846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975AD-E2A0-9C17-B570-E8F2DF706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74630-B50F-6995-333A-F3DAE12B5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90203-8D56-6A92-2261-DF0B312C9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696F72-33C4-DA2F-5D7E-C13AA1908F76}"/>
              </a:ext>
            </a:extLst>
          </p:cNvPr>
          <p:cNvSpPr>
            <a:spLocks noGrp="1"/>
          </p:cNvSpPr>
          <p:nvPr>
            <p:ph type="sldNum" sz="quarter" idx="5"/>
          </p:nvPr>
        </p:nvSpPr>
        <p:spPr/>
        <p:txBody>
          <a:bodyPr/>
          <a:lstStyle/>
          <a:p>
            <a:fld id="{05474E44-92FC-4A6B-B70E-C71180BCC9E7}" type="slidenum">
              <a:rPr lang="en-US" smtClean="0"/>
              <a:t>6</a:t>
            </a:fld>
            <a:endParaRPr lang="en-US"/>
          </a:p>
        </p:txBody>
      </p:sp>
    </p:spTree>
    <p:extLst>
      <p:ext uri="{BB962C8B-B14F-4D97-AF65-F5344CB8AC3E}">
        <p14:creationId xmlns:p14="http://schemas.microsoft.com/office/powerpoint/2010/main" val="392227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 will run a regression analysis to find a simple linear regression that we can use to examine the relationship between two variables: Facebook ad spend and Sales. </a:t>
            </a:r>
            <a:r>
              <a:rPr lang="en-US" sz="1200" b="0" i="0" kern="1200" dirty="0">
                <a:solidFill>
                  <a:schemeClr val="tx1"/>
                </a:solidFill>
                <a:effectLst/>
                <a:latin typeface="+mn-lt"/>
                <a:ea typeface="+mn-ea"/>
                <a:cs typeface="+mn-cs"/>
              </a:rPr>
              <a:t>A Simple Linear Regression</a:t>
            </a:r>
            <a:r>
              <a:rPr lang="en-US" dirty="0"/>
              <a:t> y = 1,141.28 + 12.86 * x, where x is independent variable, which in our case is the Facebook ad spend; y is dependent variable, which in our case is predicted number of sales; 1,141.28 is the y-intercept and 12.86 is the slope in this statistical model. We can use the model to predict the number of s</a:t>
            </a:r>
            <a:r>
              <a:rPr lang="en-US" sz="1200" b="0" i="0" kern="1200" dirty="0">
                <a:solidFill>
                  <a:schemeClr val="tx1"/>
                </a:solidFill>
                <a:effectLst/>
                <a:latin typeface="+mn-lt"/>
                <a:ea typeface="+mn-ea"/>
                <a:cs typeface="+mn-cs"/>
              </a:rPr>
              <a:t>ales after a particular Facebook ad spend in a month. For example, if the company spends $300 per month on Facebook ads, the predicted number of sales would be y = </a:t>
            </a:r>
            <a:r>
              <a:rPr lang="en-US" dirty="0"/>
              <a:t>1,141.28 + 12.86 *</a:t>
            </a:r>
            <a:r>
              <a:rPr lang="en-US" sz="1200" b="0" i="0" kern="1200" dirty="0">
                <a:solidFill>
                  <a:schemeClr val="tx1"/>
                </a:solidFill>
                <a:effectLst/>
                <a:latin typeface="+mn-lt"/>
                <a:ea typeface="+mn-ea"/>
                <a:cs typeface="+mn-cs"/>
              </a:rPr>
              <a:t> 300 = 4,999. Overall, Facebook advertising spending is beneficial for the business</a:t>
            </a:r>
            <a:r>
              <a:rPr lang="en-US" sz="1200" dirty="0">
                <a:latin typeface="Calibri"/>
                <a:ea typeface="Calibri"/>
                <a:cs typeface="Calibri"/>
              </a:rPr>
              <a:t>. However, if we look at the coefficient of determination (R-squared) value, which measured the proportion of variance in the response variable explained by the explanatory variable, R-squared = 0.451. This suggests that the model provides a useful, moderate explanation of the variability in the data, but there is a still a large portion of variation that the current predictors do not capture.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7</a:t>
            </a:fld>
            <a:endParaRPr lang="en-US"/>
          </a:p>
        </p:txBody>
      </p:sp>
    </p:spTree>
    <p:extLst>
      <p:ext uri="{BB962C8B-B14F-4D97-AF65-F5344CB8AC3E}">
        <p14:creationId xmlns:p14="http://schemas.microsoft.com/office/powerpoint/2010/main" val="783408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4C662-A508-8291-E838-A6C84EF3A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6A0E0-65DD-F9ED-1BD3-AA10A6802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213CD-3F0C-83C1-6A24-6608E6D4DA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466A8-BD9D-513B-9CC3-FD30AE6FE1F7}"/>
              </a:ext>
            </a:extLst>
          </p:cNvPr>
          <p:cNvSpPr>
            <a:spLocks noGrp="1"/>
          </p:cNvSpPr>
          <p:nvPr>
            <p:ph type="sldNum" sz="quarter" idx="5"/>
          </p:nvPr>
        </p:nvSpPr>
        <p:spPr/>
        <p:txBody>
          <a:bodyPr/>
          <a:lstStyle/>
          <a:p>
            <a:fld id="{05474E44-92FC-4A6B-B70E-C71180BCC9E7}" type="slidenum">
              <a:rPr lang="en-US" smtClean="0"/>
              <a:t>8</a:t>
            </a:fld>
            <a:endParaRPr lang="en-US"/>
          </a:p>
        </p:txBody>
      </p:sp>
    </p:spTree>
    <p:extLst>
      <p:ext uri="{BB962C8B-B14F-4D97-AF65-F5344CB8AC3E}">
        <p14:creationId xmlns:p14="http://schemas.microsoft.com/office/powerpoint/2010/main" val="3578517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ct val="100000"/>
              </a:lnSpc>
              <a:buFont typeface="Arial" panose="020B0604020202020204" pitchFamily="34" charset="0"/>
              <a:buNone/>
            </a:pPr>
            <a:r>
              <a:rPr lang="en-US" b="0" i="0" dirty="0">
                <a:solidFill>
                  <a:srgbClr val="000000"/>
                </a:solidFill>
                <a:effectLst/>
                <a:latin typeface="Arial"/>
                <a:cs typeface="Arial"/>
              </a:rPr>
              <a:t>Next, we will evaluate performance of the simple linear regression by analyzing residuals. On the slide we can see two plots. The plot on the left (Residuals vs Fitted Values) shows residuals from a linear relationship. The residuals are randomly scattered around the horizontal axis (zero lane), indicating that the simple linear regression model from the previous step is a good fit for the data. It also shows that the residuals have a consistent spread, which indicates that the model’s residuals are evenly distributed.</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The plot on the right, Q-Q Plot of Residuals, help us to indicate if the model’s residuals are normally distributed. In practice, minor deviations are often acceptable, especially in large datasets. As we can see from the plot, we do not have significant deviations from the line. A few points near -1.5 a little bit far from the line might indicate outliers, which can affect normality, but overall pattern shows the residuals are likely normally distributed and small deviations are usually acceptable. T</a:t>
            </a:r>
            <a:r>
              <a:rPr lang="en-US" sz="1200" b="0" i="0" kern="1200" dirty="0">
                <a:solidFill>
                  <a:schemeClr val="tx1"/>
                </a:solidFill>
                <a:effectLst/>
                <a:latin typeface="+mn-lt"/>
                <a:ea typeface="+mn-ea"/>
                <a:cs typeface="+mn-cs"/>
              </a:rPr>
              <a:t>his suggests that the assumption of normality for the residuals in the regression model is reasonably met, supporting the reliability of the model's predictions.</a:t>
            </a: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9</a:t>
            </a:fld>
            <a:endParaRPr lang="en-US"/>
          </a:p>
        </p:txBody>
      </p:sp>
    </p:spTree>
    <p:extLst>
      <p:ext uri="{BB962C8B-B14F-4D97-AF65-F5344CB8AC3E}">
        <p14:creationId xmlns:p14="http://schemas.microsoft.com/office/powerpoint/2010/main" val="1365575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9CE1-DDAC-1411-90AF-3218A1F26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D7041-A683-AE81-C8DD-7F06D467B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1315C3-D419-56F7-D774-79A1FA616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34B41F-9ED9-4DE3-5AF2-2EC108C1F71C}"/>
              </a:ext>
            </a:extLst>
          </p:cNvPr>
          <p:cNvSpPr>
            <a:spLocks noGrp="1"/>
          </p:cNvSpPr>
          <p:nvPr>
            <p:ph type="sldNum" sz="quarter" idx="5"/>
          </p:nvPr>
        </p:nvSpPr>
        <p:spPr/>
        <p:txBody>
          <a:bodyPr/>
          <a:lstStyle/>
          <a:p>
            <a:fld id="{05474E44-92FC-4A6B-B70E-C71180BCC9E7}" type="slidenum">
              <a:rPr lang="en-US" smtClean="0"/>
              <a:t>10</a:t>
            </a:fld>
            <a:endParaRPr lang="en-US"/>
          </a:p>
        </p:txBody>
      </p:sp>
    </p:spTree>
    <p:extLst>
      <p:ext uri="{BB962C8B-B14F-4D97-AF65-F5344CB8AC3E}">
        <p14:creationId xmlns:p14="http://schemas.microsoft.com/office/powerpoint/2010/main" val="3431613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ct val="100000"/>
              </a:lnSpc>
              <a:buFont typeface="Arial" panose="020B0604020202020204" pitchFamily="34" charset="0"/>
              <a:buNone/>
            </a:pPr>
            <a:r>
              <a:rPr lang="en-US" b="0" i="0" dirty="0">
                <a:solidFill>
                  <a:srgbClr val="000000"/>
                </a:solidFill>
                <a:effectLst/>
                <a:latin typeface="Arial"/>
                <a:cs typeface="Arial"/>
              </a:rPr>
              <a:t>Next step, we will explore multiple linear regression. </a:t>
            </a:r>
            <a:r>
              <a:rPr lang="en-US" dirty="0"/>
              <a:t>While simple linear regression involves one predictor variable, multiple linear regression allows us to include multiple explanatory variables to better understand and predict the response variable. In our example, we used Facebook ad spend to predict the number of sales. Multiple linear regression allows you to use more than one explanatory variable, which means we will use </a:t>
            </a:r>
            <a:r>
              <a:rPr lang="en-US" b="0" i="0" dirty="0">
                <a:solidFill>
                  <a:srgbClr val="000000"/>
                </a:solidFill>
                <a:effectLst/>
                <a:latin typeface="Arial"/>
                <a:cs typeface="Arial"/>
              </a:rPr>
              <a:t>Facebook ad spend, Instagram ad spend, and discount rate to predict sales. Examining the calculations for R-squared, we can observe, R-squared increases with the multiple regression model. </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R-squared Simple linear regression – 0.451</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R-squared Multiple linear regression – 0.650</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This proves that including Instagram ad spend and discount rate improves the model’s predictive power.</a:t>
            </a:r>
          </a:p>
          <a:p>
            <a:pPr algn="l" rtl="0" fontAlgn="base">
              <a:lnSpc>
                <a:spcPct val="100000"/>
              </a:lnSpc>
              <a:buFont typeface="Arial" panose="020B0604020202020204" pitchFamily="34" charset="0"/>
              <a:buNone/>
            </a:pPr>
            <a:endParaRPr lang="en-US" b="0" i="0" dirty="0">
              <a:solidFill>
                <a:srgbClr val="000000"/>
              </a:solidFill>
              <a:effectLst/>
              <a:latin typeface="Arial"/>
              <a:cs typeface="Arial"/>
            </a:endParaRP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000000"/>
                </a:solidFill>
                <a:effectLst/>
                <a:latin typeface="Arial"/>
                <a:cs typeface="Arial"/>
              </a:rPr>
              <a:t>Using the regression output, the multiple linear regression model that predicted number of sales is given by </a:t>
            </a:r>
            <a:r>
              <a:rPr lang="en-US" b="1" i="0" u="none" dirty="0">
                <a:solidFill>
                  <a:srgbClr val="000000"/>
                </a:solidFill>
                <a:effectLst/>
                <a:latin typeface="Arial"/>
                <a:cs typeface="Arial"/>
              </a:rPr>
              <a:t>y = </a:t>
            </a:r>
            <a:r>
              <a:rPr lang="en-US" sz="1200" b="1" i="0" u="none" kern="1200" dirty="0">
                <a:solidFill>
                  <a:schemeClr val="tx1"/>
                </a:solidFill>
                <a:effectLst/>
                <a:latin typeface="+mn-lt"/>
                <a:ea typeface="+mn-ea"/>
                <a:cs typeface="+mn-cs"/>
              </a:rPr>
              <a:t>-1944.96 + 13.50 * x_1 + 15.60 * x_2 – 8.60 * x_3</a:t>
            </a:r>
          </a:p>
        </p:txBody>
      </p:sp>
      <p:sp>
        <p:nvSpPr>
          <p:cNvPr id="4" name="Slide Number Placeholder 3"/>
          <p:cNvSpPr>
            <a:spLocks noGrp="1"/>
          </p:cNvSpPr>
          <p:nvPr>
            <p:ph type="sldNum" sz="quarter" idx="5"/>
          </p:nvPr>
        </p:nvSpPr>
        <p:spPr/>
        <p:txBody>
          <a:bodyPr/>
          <a:lstStyle/>
          <a:p>
            <a:fld id="{05474E44-92FC-4A6B-B70E-C71180BCC9E7}" type="slidenum">
              <a:rPr lang="en-US" smtClean="0"/>
              <a:t>11</a:t>
            </a:fld>
            <a:endParaRPr lang="en-US"/>
          </a:p>
        </p:txBody>
      </p:sp>
    </p:spTree>
    <p:extLst>
      <p:ext uri="{BB962C8B-B14F-4D97-AF65-F5344CB8AC3E}">
        <p14:creationId xmlns:p14="http://schemas.microsoft.com/office/powerpoint/2010/main" val="127896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3D5F-68F4-46D3-38E8-FA585574B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62310-E1AF-3835-B70C-648E0BF7F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2BA13-AD16-E939-2824-74D3BCE29F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BC5B1-1EF5-0758-2021-D5BF2F496354}"/>
              </a:ext>
            </a:extLst>
          </p:cNvPr>
          <p:cNvSpPr>
            <a:spLocks noGrp="1"/>
          </p:cNvSpPr>
          <p:nvPr>
            <p:ph type="sldNum" sz="quarter" idx="5"/>
          </p:nvPr>
        </p:nvSpPr>
        <p:spPr/>
        <p:txBody>
          <a:bodyPr/>
          <a:lstStyle/>
          <a:p>
            <a:fld id="{05474E44-92FC-4A6B-B70E-C71180BCC9E7}" type="slidenum">
              <a:rPr lang="en-US" smtClean="0"/>
              <a:t>12</a:t>
            </a:fld>
            <a:endParaRPr lang="en-US"/>
          </a:p>
        </p:txBody>
      </p:sp>
    </p:spTree>
    <p:extLst>
      <p:ext uri="{BB962C8B-B14F-4D97-AF65-F5344CB8AC3E}">
        <p14:creationId xmlns:p14="http://schemas.microsoft.com/office/powerpoint/2010/main" val="4019790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analysis we will use two  forecasting methods: “3-month moving average” and “An exponential smoothing”.</a:t>
            </a:r>
          </a:p>
          <a:p>
            <a:r>
              <a:rPr lang="en-US" dirty="0"/>
              <a:t>“3-month moving average” helps smooth out short-term fluctuations in data to see the overall pattern. In our example we decided to take 3-month window size. A table on the left shows the forecasted values based on the 3-month moving averages. And as we calculated that the </a:t>
            </a:r>
            <a:r>
              <a:rPr lang="en-US" b="0" i="0" dirty="0">
                <a:solidFill>
                  <a:srgbClr val="000000"/>
                </a:solidFill>
                <a:effectLst/>
                <a:latin typeface="Arial"/>
                <a:cs typeface="Arial"/>
              </a:rPr>
              <a:t>3-month moving average forecast for January 2025 equals 6059 Sales.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exponential smoothing” predicts future data points by giving more weight to recent data while still considering older data. In our calculations we use a smoothing parameter of 0.08. The column “An exponential smoothing” shows the forecasts for sales data.  And as we calculated that an exponential smoothing</a:t>
            </a:r>
            <a:r>
              <a:rPr lang="en-US" b="0" i="0" dirty="0">
                <a:solidFill>
                  <a:srgbClr val="000000"/>
                </a:solidFill>
                <a:effectLst/>
                <a:latin typeface="Arial"/>
                <a:cs typeface="Arial"/>
              </a:rPr>
              <a:t> forecast for January 2025 equals 6032 Sales.</a:t>
            </a:r>
          </a:p>
        </p:txBody>
      </p:sp>
      <p:sp>
        <p:nvSpPr>
          <p:cNvPr id="4" name="Slide Number Placeholder 3"/>
          <p:cNvSpPr>
            <a:spLocks noGrp="1"/>
          </p:cNvSpPr>
          <p:nvPr>
            <p:ph type="sldNum" sz="quarter" idx="5"/>
          </p:nvPr>
        </p:nvSpPr>
        <p:spPr/>
        <p:txBody>
          <a:bodyPr/>
          <a:lstStyle/>
          <a:p>
            <a:fld id="{05474E44-92FC-4A6B-B70E-C71180BCC9E7}" type="slidenum">
              <a:rPr lang="en-US" smtClean="0"/>
              <a:t>13</a:t>
            </a:fld>
            <a:endParaRPr lang="en-US"/>
          </a:p>
        </p:txBody>
      </p:sp>
    </p:spTree>
    <p:extLst>
      <p:ext uri="{BB962C8B-B14F-4D97-AF65-F5344CB8AC3E}">
        <p14:creationId xmlns:p14="http://schemas.microsoft.com/office/powerpoint/2010/main" val="3837034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DD2B-F373-9B03-B341-932C0C06E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86925-B2EF-AFC1-4B7B-3DA41FCBF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4C74D-D004-63A2-CB4F-BB9EF30F22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D0436B-C252-C6FC-0475-2F4D0CAED08C}"/>
              </a:ext>
            </a:extLst>
          </p:cNvPr>
          <p:cNvSpPr>
            <a:spLocks noGrp="1"/>
          </p:cNvSpPr>
          <p:nvPr>
            <p:ph type="sldNum" sz="quarter" idx="5"/>
          </p:nvPr>
        </p:nvSpPr>
        <p:spPr/>
        <p:txBody>
          <a:bodyPr/>
          <a:lstStyle/>
          <a:p>
            <a:fld id="{05474E44-92FC-4A6B-B70E-C71180BCC9E7}" type="slidenum">
              <a:rPr lang="en-US" smtClean="0"/>
              <a:t>14</a:t>
            </a:fld>
            <a:endParaRPr lang="en-US"/>
          </a:p>
        </p:txBody>
      </p:sp>
    </p:spTree>
    <p:extLst>
      <p:ext uri="{BB962C8B-B14F-4D97-AF65-F5344CB8AC3E}">
        <p14:creationId xmlns:p14="http://schemas.microsoft.com/office/powerpoint/2010/main" val="2493483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9C026-C0F0-E2BB-5722-8063B8A54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C5244-D545-678F-3DF7-DE80B02B7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A4E0-D207-17B2-AB44-81A09FE820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A6A92-5A24-9763-9FFC-BDFAA9CCFCD5}"/>
              </a:ext>
            </a:extLst>
          </p:cNvPr>
          <p:cNvSpPr>
            <a:spLocks noGrp="1"/>
          </p:cNvSpPr>
          <p:nvPr>
            <p:ph type="sldNum" sz="quarter" idx="5"/>
          </p:nvPr>
        </p:nvSpPr>
        <p:spPr/>
        <p:txBody>
          <a:bodyPr/>
          <a:lstStyle/>
          <a:p>
            <a:fld id="{05474E44-92FC-4A6B-B70E-C71180BCC9E7}" type="slidenum">
              <a:rPr lang="en-US" smtClean="0"/>
              <a:t>15</a:t>
            </a:fld>
            <a:endParaRPr lang="en-US"/>
          </a:p>
        </p:txBody>
      </p:sp>
    </p:spTree>
    <p:extLst>
      <p:ext uri="{BB962C8B-B14F-4D97-AF65-F5344CB8AC3E}">
        <p14:creationId xmlns:p14="http://schemas.microsoft.com/office/powerpoint/2010/main" val="2202869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ct val="100000"/>
              </a:lnSpc>
              <a:buFont typeface="Arial" panose="020B0604020202020204" pitchFamily="34" charset="0"/>
              <a:buNone/>
            </a:pPr>
            <a:r>
              <a:rPr lang="en-US" dirty="0"/>
              <a:t>In this step, we </a:t>
            </a:r>
            <a:r>
              <a:rPr lang="en-US" sz="1200" dirty="0">
                <a:latin typeface="Arial"/>
                <a:cs typeface="Arial"/>
              </a:rPr>
              <a:t>build a multiple linear regression model using 5-fold cross-validation to </a:t>
            </a:r>
            <a:r>
              <a:rPr lang="en-US" dirty="0"/>
              <a:t>model the relationship between a target variable and a set of features. In our model, the target variable is sales, and the features are </a:t>
            </a:r>
            <a:r>
              <a:rPr lang="en-US" b="0" i="0" dirty="0">
                <a:solidFill>
                  <a:srgbClr val="000000"/>
                </a:solidFill>
                <a:effectLst/>
                <a:latin typeface="Arial"/>
                <a:cs typeface="Arial"/>
              </a:rPr>
              <a:t>Facebook ad spend, Instagram ad spend, and discount rate. We calculated Root Mean Square Error (RMSE) to represent how far, on average, the model’s predictions are from the actual values.</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RMSE value of 626 sales indicates the average deviation of the predicted sales from the actual sales, the model’s predictions are off by 626 sales. This level of accuracy might be acceptable depending on the company’s tolerance for prediction discrepancies.</a:t>
            </a:r>
          </a:p>
          <a:p>
            <a:pPr algn="l" rtl="0" fontAlgn="base">
              <a:lnSpc>
                <a:spcPct val="100000"/>
              </a:lnSpc>
              <a:buFont typeface="Arial" panose="020B0604020202020204" pitchFamily="34" charset="0"/>
              <a:buNone/>
            </a:pPr>
            <a:endParaRPr lang="en-US" b="0" i="0" dirty="0">
              <a:solidFill>
                <a:srgbClr val="000000"/>
              </a:solidFill>
              <a:effectLst/>
              <a:latin typeface="Arial"/>
              <a:cs typeface="Arial"/>
            </a:endParaRPr>
          </a:p>
          <a:p>
            <a:pPr algn="l" rtl="0" fontAlgn="base">
              <a:lnSpc>
                <a:spcPct val="100000"/>
              </a:lnSpc>
              <a:buFont typeface="Arial" panose="020B0604020202020204" pitchFamily="34" charset="0"/>
              <a:buNone/>
            </a:pPr>
            <a:r>
              <a:rPr lang="en-US" sz="1200" b="0" i="0" kern="1200" dirty="0">
                <a:solidFill>
                  <a:schemeClr val="tx1"/>
                </a:solidFill>
                <a:effectLst/>
                <a:latin typeface="+mn-lt"/>
                <a:ea typeface="+mn-ea"/>
                <a:cs typeface="+mn-cs"/>
              </a:rPr>
              <a:t>After evaluating both the multiple linear regression model and the decision tree model using 5-fold cross validation, it is observed that the multiple linear regression model has an average RMSE of 626 points, while the decision tree model has an average RMSE of 911 points. This indicates that the multiple linear regression model provides more accurate predictions with lower error compared to the decision tree model for this particular data set. Therefore, we will recommend using the multiple linear regression model for predicting the target variable - Sales, as it demonstrates better performance in our case. However, the company needs to continue monitoring and potential model improvements are always advisable.</a:t>
            </a:r>
            <a:endParaRPr lang="en-US" dirty="0"/>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16</a:t>
            </a:fld>
            <a:endParaRPr lang="en-US"/>
          </a:p>
        </p:txBody>
      </p:sp>
    </p:spTree>
    <p:extLst>
      <p:ext uri="{BB962C8B-B14F-4D97-AF65-F5344CB8AC3E}">
        <p14:creationId xmlns:p14="http://schemas.microsoft.com/office/powerpoint/2010/main" val="1258461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24697-335C-2162-41B1-F4D8681A1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100B9-6405-4C3C-997A-647BB8C1E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43531-68C1-C0FD-64F5-88F7F31842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168F8A-3670-A8FB-05C1-672EF820C5D2}"/>
              </a:ext>
            </a:extLst>
          </p:cNvPr>
          <p:cNvSpPr>
            <a:spLocks noGrp="1"/>
          </p:cNvSpPr>
          <p:nvPr>
            <p:ph type="sldNum" sz="quarter" idx="5"/>
          </p:nvPr>
        </p:nvSpPr>
        <p:spPr/>
        <p:txBody>
          <a:bodyPr/>
          <a:lstStyle/>
          <a:p>
            <a:fld id="{05474E44-92FC-4A6B-B70E-C71180BCC9E7}" type="slidenum">
              <a:rPr lang="en-US" smtClean="0"/>
              <a:t>17</a:t>
            </a:fld>
            <a:endParaRPr lang="en-US"/>
          </a:p>
        </p:txBody>
      </p:sp>
    </p:spTree>
    <p:extLst>
      <p:ext uri="{BB962C8B-B14F-4D97-AF65-F5344CB8AC3E}">
        <p14:creationId xmlns:p14="http://schemas.microsoft.com/office/powerpoint/2010/main" val="3864456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5873-56C4-CF95-0D5C-4E9C598CD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1B4-9040-AA6E-5555-014AE3CFC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706BD-E368-30ED-77E3-84754B01C7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849597-E24A-5370-0C87-C7A00DC06066}"/>
              </a:ext>
            </a:extLst>
          </p:cNvPr>
          <p:cNvSpPr>
            <a:spLocks noGrp="1"/>
          </p:cNvSpPr>
          <p:nvPr>
            <p:ph type="sldNum" sz="quarter" idx="5"/>
          </p:nvPr>
        </p:nvSpPr>
        <p:spPr/>
        <p:txBody>
          <a:bodyPr/>
          <a:lstStyle/>
          <a:p>
            <a:fld id="{05474E44-92FC-4A6B-B70E-C71180BCC9E7}" type="slidenum">
              <a:rPr lang="en-US" smtClean="0"/>
              <a:t>18</a:t>
            </a:fld>
            <a:endParaRPr lang="en-US"/>
          </a:p>
        </p:txBody>
      </p:sp>
    </p:spTree>
    <p:extLst>
      <p:ext uri="{BB962C8B-B14F-4D97-AF65-F5344CB8AC3E}">
        <p14:creationId xmlns:p14="http://schemas.microsoft.com/office/powerpoint/2010/main" val="1683248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way to make accurate predictions of the future sales is to use Monte Carlo Simulation. This simulation will help to see a range of possible sales outcomes and understand the risks involved. We will construct the Montecarlo simulation based on the requirement below:</a:t>
            </a:r>
          </a:p>
          <a:p>
            <a:r>
              <a:rPr lang="en-US" dirty="0"/>
              <a:t>1. Examining sales data for the past 60 months we observed that daily sales can be vary between 2,299 and 7,702. And we can assume the daily sales follow a uniform distribution.</a:t>
            </a:r>
          </a:p>
          <a:p>
            <a:r>
              <a:rPr lang="en-US" dirty="0"/>
              <a:t>2. Use a random seed value of 42 so that the results will be reproducible.</a:t>
            </a:r>
          </a:p>
          <a:p>
            <a:r>
              <a:rPr lang="en-US" dirty="0"/>
              <a:t>3. </a:t>
            </a:r>
            <a:r>
              <a:rPr lang="en-US" sz="1200" dirty="0">
                <a:solidFill>
                  <a:srgbClr val="000000"/>
                </a:solidFill>
                <a:latin typeface="Arial"/>
                <a:ea typeface="+mn-lt"/>
                <a:cs typeface="+mn-lt"/>
              </a:rPr>
              <a:t>Estimate the average and median monthly sales by running </a:t>
            </a:r>
            <a:r>
              <a:rPr lang="en-US" sz="1200" b="0" i="0" dirty="0">
                <a:solidFill>
                  <a:srgbClr val="000000"/>
                </a:solidFill>
                <a:effectLst/>
                <a:latin typeface="Arial"/>
                <a:ea typeface="+mn-lt"/>
                <a:cs typeface="+mn-lt"/>
              </a:rPr>
              <a:t>1,000 simulations.</a:t>
            </a:r>
          </a:p>
          <a:p>
            <a:r>
              <a:rPr lang="en-US" sz="1200" b="0" i="0" dirty="0">
                <a:solidFill>
                  <a:srgbClr val="000000"/>
                </a:solidFill>
                <a:effectLst/>
                <a:latin typeface="Arial"/>
                <a:ea typeface="+mn-lt"/>
                <a:cs typeface="+mn-lt"/>
              </a:rPr>
              <a:t>4. Number of days in a month – 30.</a:t>
            </a:r>
            <a:endParaRPr lang="en-US" dirty="0"/>
          </a:p>
          <a:p>
            <a:endParaRPr lang="en-US" dirty="0"/>
          </a:p>
          <a:p>
            <a:r>
              <a:rPr lang="en-US" dirty="0"/>
              <a:t>To summarize the results, we created a histogram “Distribution of Simulated Monthly Revenue”.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90000"/>
                    <a:lumOff val="10000"/>
                  </a:schemeClr>
                </a:solidFill>
                <a:latin typeface="Arial" panose="020B0604020202020204" pitchFamily="34" charset="0"/>
                <a:cs typeface="Arial" panose="020B0604020202020204" pitchFamily="34" charset="0"/>
              </a:rPr>
              <a:t>Estimated Average Monthly Revenue: </a:t>
            </a:r>
            <a:r>
              <a:rPr lang="en-US" sz="1200" b="1" dirty="0">
                <a:solidFill>
                  <a:srgbClr val="FF0000"/>
                </a:solidFill>
                <a:latin typeface="Arial" panose="020B0604020202020204" pitchFamily="34" charset="0"/>
                <a:cs typeface="Arial" panose="020B0604020202020204" pitchFamily="34" charset="0"/>
              </a:rPr>
              <a:t>$149,890.15. </a:t>
            </a:r>
            <a:r>
              <a:rPr lang="en-US" sz="1200" b="0" dirty="0">
                <a:solidFill>
                  <a:srgbClr val="FF0000"/>
                </a:solidFill>
                <a:latin typeface="Arial" panose="020B0604020202020204" pitchFamily="34" charset="0"/>
                <a:cs typeface="Arial" panose="020B0604020202020204" pitchFamily="34" charset="0"/>
              </a:rPr>
              <a:t>The average monthly revenue provides an estimate of what the typical monthly revenue might be, considering the variability in daily revenues due to different factors (holidays, market trends, etc.). This information is useful for budgeting, financial planning, and setting sales targets.</a:t>
            </a:r>
          </a:p>
          <a:p>
            <a:endParaRPr lang="en-US" dirty="0"/>
          </a:p>
          <a:p>
            <a:r>
              <a:rPr lang="en-US" sz="1200" dirty="0">
                <a:solidFill>
                  <a:schemeClr val="tx2">
                    <a:lumMod val="90000"/>
                    <a:lumOff val="10000"/>
                  </a:schemeClr>
                </a:solidFill>
                <a:latin typeface="Arial" panose="020B0604020202020204" pitchFamily="34" charset="0"/>
                <a:cs typeface="Arial" panose="020B0604020202020204" pitchFamily="34" charset="0"/>
              </a:rPr>
              <a:t>Median Monthly Revenue: </a:t>
            </a:r>
            <a:r>
              <a:rPr lang="en-US" sz="1200" b="1" dirty="0">
                <a:solidFill>
                  <a:srgbClr val="00B050"/>
                </a:solidFill>
                <a:latin typeface="Arial" panose="020B0604020202020204" pitchFamily="34" charset="0"/>
                <a:cs typeface="Arial" panose="020B0604020202020204" pitchFamily="34" charset="0"/>
              </a:rPr>
              <a:t>$149,894.50. </a:t>
            </a:r>
            <a:r>
              <a:rPr lang="en-US" sz="1200" b="0" dirty="0">
                <a:solidFill>
                  <a:srgbClr val="00B050"/>
                </a:solidFill>
                <a:latin typeface="Arial" panose="020B0604020202020204" pitchFamily="34" charset="0"/>
                <a:cs typeface="Arial" panose="020B0604020202020204" pitchFamily="34" charset="0"/>
              </a:rPr>
              <a:t>The median monthly revenue represents the point at which half of the simulated monthly revenues are below and half are above. The median gives more robust measures of the central tendency of the monthly revenue.</a:t>
            </a:r>
          </a:p>
          <a:p>
            <a:endParaRPr lang="en-US" sz="1200" b="0" dirty="0">
              <a:solidFill>
                <a:srgbClr val="00B050"/>
              </a:solidFill>
              <a:latin typeface="Arial" panose="020B0604020202020204" pitchFamily="34" charset="0"/>
              <a:cs typeface="Arial" panose="020B0604020202020204" pitchFamily="34" charset="0"/>
            </a:endParaRPr>
          </a:p>
          <a:p>
            <a:r>
              <a:rPr lang="en-US" sz="1200" b="0" dirty="0">
                <a:solidFill>
                  <a:srgbClr val="00B050"/>
                </a:solidFill>
                <a:latin typeface="Arial" panose="020B0604020202020204" pitchFamily="34" charset="0"/>
                <a:cs typeface="Arial" panose="020B0604020202020204" pitchFamily="34" charset="0"/>
              </a:rPr>
              <a:t>Both the average and monthly revenue help the company set realistic budgets and financial plans. The average helps in setting optimistic targets, while the median ensures that targets are realistic and not overly influenced by outliers.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90000"/>
                    <a:lumOff val="10000"/>
                  </a:schemeClr>
                </a:solidFill>
                <a:latin typeface="Arial" panose="020B0604020202020204" pitchFamily="34" charset="0"/>
                <a:cs typeface="Arial" panose="020B0604020202020204" pitchFamily="34" charset="0"/>
              </a:rPr>
              <a:t>The Standard Deviation of Monthly Revenue equals </a:t>
            </a:r>
            <a:r>
              <a:rPr lang="en-US" sz="1200" b="1" dirty="0">
                <a:solidFill>
                  <a:srgbClr val="7030A0"/>
                </a:solidFill>
                <a:latin typeface="Arial" panose="020B0604020202020204" pitchFamily="34" charset="0"/>
                <a:cs typeface="Arial" panose="020B0604020202020204" pitchFamily="34" charset="0"/>
              </a:rPr>
              <a:t>$8,165.60 </a:t>
            </a:r>
            <a:r>
              <a:rPr lang="en-US" sz="1200" b="0" dirty="0">
                <a:solidFill>
                  <a:srgbClr val="7030A0"/>
                </a:solidFill>
                <a:latin typeface="Arial" panose="020B0604020202020204" pitchFamily="34" charset="0"/>
                <a:cs typeface="Arial" panose="020B0604020202020204" pitchFamily="34" charset="0"/>
              </a:rPr>
              <a:t>represents the variability or dispersion in the simulated monthly revenues. This value provides insights into how much the monthly revenues are expected to fluctuate around the average monthly revenue. This is crucial for managing financial risks and ensuring that the business can sustain operations even during less profitable months. </a:t>
            </a:r>
            <a:r>
              <a:rPr lang="en-US" dirty="0"/>
              <a:t>This information is essential for making informed decisions about inventory, staffing, and risk management, ultimately helping the business operate more efficiently and sustainably. </a:t>
            </a:r>
          </a:p>
          <a:p>
            <a:endParaRPr lang="en-US" dirty="0"/>
          </a:p>
          <a:p>
            <a:r>
              <a:rPr lang="en-US" dirty="0"/>
              <a:t>Understand and managing these risks and uncertainties through Monte Carlo simulations allows businesses to make more informed and strategic decisions.</a:t>
            </a:r>
          </a:p>
        </p:txBody>
      </p:sp>
      <p:sp>
        <p:nvSpPr>
          <p:cNvPr id="4" name="Slide Number Placeholder 3"/>
          <p:cNvSpPr>
            <a:spLocks noGrp="1"/>
          </p:cNvSpPr>
          <p:nvPr>
            <p:ph type="sldNum" sz="quarter" idx="5"/>
          </p:nvPr>
        </p:nvSpPr>
        <p:spPr/>
        <p:txBody>
          <a:bodyPr/>
          <a:lstStyle/>
          <a:p>
            <a:fld id="{05474E44-92FC-4A6B-B70E-C71180BCC9E7}" type="slidenum">
              <a:rPr lang="en-US" smtClean="0"/>
              <a:t>19</a:t>
            </a:fld>
            <a:endParaRPr lang="en-US"/>
          </a:p>
        </p:txBody>
      </p:sp>
    </p:spTree>
    <p:extLst>
      <p:ext uri="{BB962C8B-B14F-4D97-AF65-F5344CB8AC3E}">
        <p14:creationId xmlns:p14="http://schemas.microsoft.com/office/powerpoint/2010/main" val="2396721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64E42-5C3A-1CBC-C1E3-07F825F75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98C11-C89A-594F-8260-FCC7658A7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E99C3B-E5DE-D5EB-82C9-E1227A37F9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428088-5C18-A0BA-888F-78C54D0A8C31}"/>
              </a:ext>
            </a:extLst>
          </p:cNvPr>
          <p:cNvSpPr>
            <a:spLocks noGrp="1"/>
          </p:cNvSpPr>
          <p:nvPr>
            <p:ph type="sldNum" sz="quarter" idx="5"/>
          </p:nvPr>
        </p:nvSpPr>
        <p:spPr/>
        <p:txBody>
          <a:bodyPr/>
          <a:lstStyle/>
          <a:p>
            <a:fld id="{05474E44-92FC-4A6B-B70E-C71180BCC9E7}" type="slidenum">
              <a:rPr lang="en-US" smtClean="0"/>
              <a:t>20</a:t>
            </a:fld>
            <a:endParaRPr lang="en-US"/>
          </a:p>
        </p:txBody>
      </p:sp>
    </p:spTree>
    <p:extLst>
      <p:ext uri="{BB962C8B-B14F-4D97-AF65-F5344CB8AC3E}">
        <p14:creationId xmlns:p14="http://schemas.microsoft.com/office/powerpoint/2010/main" val="3922789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EEC25-9F6D-14FE-D9D8-0AAE0F5F2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18518-A414-C532-08CD-FB755844A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F5940-23F4-7AD1-EDBA-2D4109F694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81D82-A8BD-0BBB-A549-38B417DFCA8E}"/>
              </a:ext>
            </a:extLst>
          </p:cNvPr>
          <p:cNvSpPr>
            <a:spLocks noGrp="1"/>
          </p:cNvSpPr>
          <p:nvPr>
            <p:ph type="sldNum" sz="quarter" idx="5"/>
          </p:nvPr>
        </p:nvSpPr>
        <p:spPr/>
        <p:txBody>
          <a:bodyPr/>
          <a:lstStyle/>
          <a:p>
            <a:fld id="{05474E44-92FC-4A6B-B70E-C71180BCC9E7}" type="slidenum">
              <a:rPr lang="en-US" smtClean="0"/>
              <a:t>21</a:t>
            </a:fld>
            <a:endParaRPr lang="en-US"/>
          </a:p>
        </p:txBody>
      </p:sp>
    </p:spTree>
    <p:extLst>
      <p:ext uri="{BB962C8B-B14F-4D97-AF65-F5344CB8AC3E}">
        <p14:creationId xmlns:p14="http://schemas.microsoft.com/office/powerpoint/2010/main" val="3713932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has a fixed advertising budget of $10,000 per month, and we need to determine the optimal distribution of this budget between Facebook and Instagram advertising to achieve the maximum possible sales.</a:t>
            </a:r>
          </a:p>
          <a:p>
            <a:r>
              <a:rPr lang="en-US" dirty="0"/>
              <a:t>Other constraints:</a:t>
            </a:r>
          </a:p>
          <a:p>
            <a:pPr marL="228600" indent="-228600">
              <a:buAutoNum type="arabicPeriod"/>
            </a:pPr>
            <a:r>
              <a:rPr lang="en-US" sz="1200" b="0" i="0" kern="1200" dirty="0">
                <a:solidFill>
                  <a:schemeClr val="tx1"/>
                </a:solidFill>
                <a:effectLst/>
                <a:latin typeface="+mn-lt"/>
                <a:ea typeface="+mn-ea"/>
                <a:cs typeface="+mn-cs"/>
              </a:rPr>
              <a:t>Must spend at least $2,000 on Facebook advertising to maintain its presence on the platform.</a:t>
            </a:r>
          </a:p>
          <a:p>
            <a:pPr marL="228600" indent="-228600">
              <a:buAutoNum type="arabicPeriod"/>
            </a:pPr>
            <a:r>
              <a:rPr lang="en-US" sz="1200" b="0" i="0" kern="1200" dirty="0">
                <a:solidFill>
                  <a:schemeClr val="tx1"/>
                </a:solidFill>
                <a:effectLst/>
                <a:latin typeface="+mn-lt"/>
                <a:ea typeface="+mn-ea"/>
                <a:cs typeface="+mn-cs"/>
              </a:rPr>
              <a:t>Must spend a minimum of $1,000 and no more than $7,000 on Instagram advertising due to platform-specific constraints.</a:t>
            </a:r>
          </a:p>
          <a:p>
            <a:pPr marL="228600" indent="-228600">
              <a:buAutoNum type="arabicPeriod"/>
            </a:pPr>
            <a:r>
              <a:rPr lang="en-US" sz="1200" b="0" i="0" kern="1200" dirty="0">
                <a:solidFill>
                  <a:schemeClr val="tx1"/>
                </a:solidFill>
                <a:effectLst/>
                <a:latin typeface="+mn-lt"/>
                <a:ea typeface="+mn-ea"/>
                <a:cs typeface="+mn-cs"/>
              </a:rPr>
              <a:t>The amount spent on Instagram advertising should be at least 50% of the amount spent on Facebook advertising to ensure balanced marketing efforts.</a:t>
            </a:r>
          </a:p>
          <a:p>
            <a:pPr marL="0" indent="0">
              <a:buNone/>
            </a:pPr>
            <a:r>
              <a:rPr lang="en-US" sz="1200" b="0" i="0" kern="1200" dirty="0">
                <a:solidFill>
                  <a:schemeClr val="tx1"/>
                </a:solidFill>
                <a:effectLst/>
                <a:latin typeface="+mn-lt"/>
                <a:ea typeface="+mn-ea"/>
                <a:cs typeface="+mn-cs"/>
              </a:rPr>
              <a:t>Objectives:</a:t>
            </a:r>
          </a:p>
          <a:p>
            <a:pPr marL="0" indent="0">
              <a:buNone/>
            </a:pPr>
            <a:r>
              <a:rPr lang="en-US" sz="1200" b="0" i="0" kern="1200" dirty="0">
                <a:solidFill>
                  <a:schemeClr val="tx1"/>
                </a:solidFill>
                <a:effectLst/>
                <a:latin typeface="+mn-lt"/>
                <a:ea typeface="+mn-ea"/>
                <a:cs typeface="+mn-cs"/>
              </a:rPr>
              <a:t>1. Sales from Facebook: SF = 5F, where F is the Facebook ad spend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 Sales from Instagram: SI = 5I, where F is the Instagram ad spend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optimal budget allocation for Facebook - $6,666; for Instagram $3,333. Under these conditions the company can achieve maximum sales revenue of $43,333.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indent="0">
              <a:buNone/>
            </a:pP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22</a:t>
            </a:fld>
            <a:endParaRPr lang="en-US"/>
          </a:p>
        </p:txBody>
      </p:sp>
    </p:spTree>
    <p:extLst>
      <p:ext uri="{BB962C8B-B14F-4D97-AF65-F5344CB8AC3E}">
        <p14:creationId xmlns:p14="http://schemas.microsoft.com/office/powerpoint/2010/main" val="1074188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A26B-F552-DAB9-1A23-58B86C584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818AB-82FC-B988-D093-DD460F9A8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69AD5-E49E-6FA0-0B5B-6037BFF91B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6A8A09-00A9-C2C5-2634-D7FBCA590395}"/>
              </a:ext>
            </a:extLst>
          </p:cNvPr>
          <p:cNvSpPr>
            <a:spLocks noGrp="1"/>
          </p:cNvSpPr>
          <p:nvPr>
            <p:ph type="sldNum" sz="quarter" idx="5"/>
          </p:nvPr>
        </p:nvSpPr>
        <p:spPr/>
        <p:txBody>
          <a:bodyPr/>
          <a:lstStyle/>
          <a:p>
            <a:fld id="{05474E44-92FC-4A6B-B70E-C71180BCC9E7}" type="slidenum">
              <a:rPr lang="en-US" smtClean="0"/>
              <a:t>23</a:t>
            </a:fld>
            <a:endParaRPr lang="en-US"/>
          </a:p>
        </p:txBody>
      </p:sp>
    </p:spTree>
    <p:extLst>
      <p:ext uri="{BB962C8B-B14F-4D97-AF65-F5344CB8AC3E}">
        <p14:creationId xmlns:p14="http://schemas.microsoft.com/office/powerpoint/2010/main" val="2072319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11/15/2025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9113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11/15/2025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6968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11/15/2025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025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11/15/2025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78374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11/15/2025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4542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11/15/2025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30006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11/15/2025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7713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11/15/2025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42629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11/15/2025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8871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11/15/2025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92047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11/15/2025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494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11/15/2025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53856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89" r:id="rId7"/>
    <p:sldLayoutId id="2147483688" r:id="rId8"/>
    <p:sldLayoutId id="2147483687" r:id="rId9"/>
    <p:sldLayoutId id="2147483686" r:id="rId10"/>
    <p:sldLayoutId id="214748367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nterlocking cogs">
            <a:extLst>
              <a:ext uri="{FF2B5EF4-FFF2-40B4-BE49-F238E27FC236}">
                <a16:creationId xmlns:a16="http://schemas.microsoft.com/office/drawing/2014/main" id="{DB87C39E-B58E-E5EF-F5CB-7F5EEFC106C2}"/>
              </a:ext>
            </a:extLst>
          </p:cNvPr>
          <p:cNvPicPr>
            <a:picLocks noChangeAspect="1"/>
          </p:cNvPicPr>
          <p:nvPr/>
        </p:nvPicPr>
        <p:blipFill>
          <a:blip r:embed="rId3"/>
          <a:srcRect t="9527" b="15473"/>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14BD-D3A2-4069-0D04-409A6B9C756C}"/>
              </a:ext>
            </a:extLst>
          </p:cNvPr>
          <p:cNvSpPr>
            <a:spLocks noGrp="1"/>
          </p:cNvSpPr>
          <p:nvPr>
            <p:ph type="ctrTitle"/>
          </p:nvPr>
        </p:nvSpPr>
        <p:spPr>
          <a:xfrm>
            <a:off x="5484764" y="914400"/>
            <a:ext cx="6046245" cy="3427867"/>
          </a:xfrm>
        </p:spPr>
        <p:txBody>
          <a:bodyPr anchor="t">
            <a:normAutofit/>
          </a:bodyPr>
          <a:lstStyle/>
          <a:p>
            <a:pPr algn="r"/>
            <a:r>
              <a:rPr lang="en-US" dirty="0" err="1">
                <a:solidFill>
                  <a:srgbClr val="FFFFFF"/>
                </a:solidFill>
              </a:rPr>
              <a:t>TechGear</a:t>
            </a:r>
            <a:r>
              <a:rPr lang="en-US" dirty="0">
                <a:solidFill>
                  <a:srgbClr val="FFFFFF"/>
                </a:solidFill>
              </a:rPr>
              <a:t> Inc. Business Data Analysis</a:t>
            </a:r>
          </a:p>
        </p:txBody>
      </p:sp>
      <p:sp>
        <p:nvSpPr>
          <p:cNvPr id="3" name="Subtitle 2">
            <a:extLst>
              <a:ext uri="{FF2B5EF4-FFF2-40B4-BE49-F238E27FC236}">
                <a16:creationId xmlns:a16="http://schemas.microsoft.com/office/drawing/2014/main" id="{BABB2D4A-1810-9952-9F64-524BF54E6599}"/>
              </a:ext>
            </a:extLst>
          </p:cNvPr>
          <p:cNvSpPr>
            <a:spLocks noGrp="1"/>
          </p:cNvSpPr>
          <p:nvPr>
            <p:ph type="subTitle" idx="1"/>
          </p:nvPr>
        </p:nvSpPr>
        <p:spPr>
          <a:xfrm>
            <a:off x="6589835" y="5253051"/>
            <a:ext cx="4941173" cy="1337872"/>
          </a:xfrm>
        </p:spPr>
        <p:txBody>
          <a:bodyPr anchor="t">
            <a:normAutofit/>
          </a:bodyPr>
          <a:lstStyle/>
          <a:p>
            <a:pPr algn="r">
              <a:lnSpc>
                <a:spcPct val="120000"/>
              </a:lnSpc>
            </a:pPr>
            <a:r>
              <a:rPr lang="en-US" sz="1700" dirty="0">
                <a:solidFill>
                  <a:srgbClr val="FFFFFF"/>
                </a:solidFill>
              </a:rPr>
              <a:t>BDA Unit 6 Touchstone</a:t>
            </a:r>
          </a:p>
          <a:p>
            <a:pPr algn="r">
              <a:lnSpc>
                <a:spcPct val="120000"/>
              </a:lnSpc>
            </a:pPr>
            <a:r>
              <a:rPr lang="en-US" sz="1700" dirty="0">
                <a:solidFill>
                  <a:srgbClr val="FFFFFF"/>
                </a:solidFill>
              </a:rPr>
              <a:t>ELENA PONOMAREVA</a:t>
            </a:r>
          </a:p>
          <a:p>
            <a:pPr algn="r">
              <a:lnSpc>
                <a:spcPct val="120000"/>
              </a:lnSpc>
            </a:pPr>
            <a:r>
              <a:rPr lang="en-US" sz="1700" dirty="0">
                <a:solidFill>
                  <a:srgbClr val="FFFFFF"/>
                </a:solidFill>
              </a:rPr>
              <a:t>11/15/2025</a:t>
            </a: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14087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FAC75-872E-C916-E7FD-7CCFCE69AAC7}"/>
              </a:ext>
            </a:extLst>
          </p:cNvPr>
          <p:cNvSpPr>
            <a:spLocks noGrp="1"/>
          </p:cNvSpPr>
          <p:nvPr>
            <p:ph type="title"/>
          </p:nvPr>
        </p:nvSpPr>
        <p:spPr>
          <a:xfrm>
            <a:off x="650535" y="252806"/>
            <a:ext cx="10890929" cy="1097280"/>
          </a:xfrm>
        </p:spPr>
        <p:txBody>
          <a:bodyPr>
            <a:noAutofit/>
          </a:bodyPr>
          <a:lstStyle/>
          <a:p>
            <a:r>
              <a:rPr lang="en-US" b="1" i="0" dirty="0">
                <a:solidFill>
                  <a:srgbClr val="0F4761"/>
                </a:solidFill>
                <a:effectLst/>
                <a:latin typeface="Arial"/>
                <a:cs typeface="Arial"/>
              </a:rPr>
              <a:t>Data Exploration and Summary</a:t>
            </a:r>
            <a:endParaRPr lang="en-US" dirty="0">
              <a:latin typeface="Arial"/>
              <a:cs typeface="Arial"/>
            </a:endParaRPr>
          </a:p>
        </p:txBody>
      </p:sp>
      <p:pic>
        <p:nvPicPr>
          <p:cNvPr id="7" name="Picture 6">
            <a:extLst>
              <a:ext uri="{FF2B5EF4-FFF2-40B4-BE49-F238E27FC236}">
                <a16:creationId xmlns:a16="http://schemas.microsoft.com/office/drawing/2014/main" id="{E1FF8C53-CC14-DCA2-ADF9-7BD1D315E294}"/>
              </a:ext>
            </a:extLst>
          </p:cNvPr>
          <p:cNvPicPr>
            <a:picLocks noChangeAspect="1"/>
          </p:cNvPicPr>
          <p:nvPr/>
        </p:nvPicPr>
        <p:blipFill>
          <a:blip r:embed="rId3"/>
          <a:stretch>
            <a:fillRect/>
          </a:stretch>
        </p:blipFill>
        <p:spPr>
          <a:xfrm>
            <a:off x="650535" y="1469829"/>
            <a:ext cx="11158673" cy="4593514"/>
          </a:xfrm>
          <a:prstGeom prst="rect">
            <a:avLst/>
          </a:prstGeom>
        </p:spPr>
      </p:pic>
    </p:spTree>
    <p:extLst>
      <p:ext uri="{BB962C8B-B14F-4D97-AF65-F5344CB8AC3E}">
        <p14:creationId xmlns:p14="http://schemas.microsoft.com/office/powerpoint/2010/main" val="3660653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5F5D2-5437-5B9F-3BDD-F185D73EFFCB}"/>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7" name="Picture 6">
            <a:extLst>
              <a:ext uri="{FF2B5EF4-FFF2-40B4-BE49-F238E27FC236}">
                <a16:creationId xmlns:a16="http://schemas.microsoft.com/office/drawing/2014/main" id="{FBD40609-1B96-FB53-524E-3098DD669E28}"/>
              </a:ext>
            </a:extLst>
          </p:cNvPr>
          <p:cNvPicPr>
            <a:picLocks noChangeAspect="1"/>
          </p:cNvPicPr>
          <p:nvPr/>
        </p:nvPicPr>
        <p:blipFill>
          <a:blip r:embed="rId3"/>
          <a:stretch>
            <a:fillRect/>
          </a:stretch>
        </p:blipFill>
        <p:spPr>
          <a:xfrm>
            <a:off x="640079" y="1147978"/>
            <a:ext cx="9428450" cy="5522986"/>
          </a:xfrm>
          <a:prstGeom prst="rect">
            <a:avLst/>
          </a:prstGeom>
        </p:spPr>
      </p:pic>
    </p:spTree>
    <p:extLst>
      <p:ext uri="{BB962C8B-B14F-4D97-AF65-F5344CB8AC3E}">
        <p14:creationId xmlns:p14="http://schemas.microsoft.com/office/powerpoint/2010/main" val="3358663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B039-BB64-631C-2BCA-CE0F6D79F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E04CD-232B-9EF8-BA47-2AE6EA02D55B}"/>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Visualizing Relationships</a:t>
            </a:r>
            <a:endParaRPr lang="en-US" sz="4200" dirty="0">
              <a:latin typeface="Arial"/>
              <a:cs typeface="Arial"/>
            </a:endParaRPr>
          </a:p>
        </p:txBody>
      </p:sp>
      <p:pic>
        <p:nvPicPr>
          <p:cNvPr id="4" name="Picture 3">
            <a:extLst>
              <a:ext uri="{FF2B5EF4-FFF2-40B4-BE49-F238E27FC236}">
                <a16:creationId xmlns:a16="http://schemas.microsoft.com/office/drawing/2014/main" id="{BF4E099B-9EE3-9684-BF37-EA70EF09316C}"/>
              </a:ext>
            </a:extLst>
          </p:cNvPr>
          <p:cNvPicPr>
            <a:picLocks noChangeAspect="1"/>
          </p:cNvPicPr>
          <p:nvPr/>
        </p:nvPicPr>
        <p:blipFill>
          <a:blip r:embed="rId3"/>
          <a:stretch>
            <a:fillRect/>
          </a:stretch>
        </p:blipFill>
        <p:spPr>
          <a:xfrm>
            <a:off x="193290" y="1854578"/>
            <a:ext cx="3948113" cy="3148844"/>
          </a:xfrm>
          <a:prstGeom prst="rect">
            <a:avLst/>
          </a:prstGeom>
        </p:spPr>
      </p:pic>
      <p:pic>
        <p:nvPicPr>
          <p:cNvPr id="6" name="Picture 5">
            <a:extLst>
              <a:ext uri="{FF2B5EF4-FFF2-40B4-BE49-F238E27FC236}">
                <a16:creationId xmlns:a16="http://schemas.microsoft.com/office/drawing/2014/main" id="{C5F5CB21-5082-015C-188D-BFEFC7FB7324}"/>
              </a:ext>
            </a:extLst>
          </p:cNvPr>
          <p:cNvPicPr>
            <a:picLocks noChangeAspect="1"/>
          </p:cNvPicPr>
          <p:nvPr/>
        </p:nvPicPr>
        <p:blipFill>
          <a:blip r:embed="rId4"/>
          <a:stretch>
            <a:fillRect/>
          </a:stretch>
        </p:blipFill>
        <p:spPr>
          <a:xfrm>
            <a:off x="4141403" y="1854578"/>
            <a:ext cx="3986229" cy="3148844"/>
          </a:xfrm>
          <a:prstGeom prst="rect">
            <a:avLst/>
          </a:prstGeom>
        </p:spPr>
      </p:pic>
      <p:pic>
        <p:nvPicPr>
          <p:cNvPr id="8" name="Picture 7">
            <a:extLst>
              <a:ext uri="{FF2B5EF4-FFF2-40B4-BE49-F238E27FC236}">
                <a16:creationId xmlns:a16="http://schemas.microsoft.com/office/drawing/2014/main" id="{4502AF92-76FB-70F1-003B-3200A05115E9}"/>
              </a:ext>
            </a:extLst>
          </p:cNvPr>
          <p:cNvPicPr>
            <a:picLocks noChangeAspect="1"/>
          </p:cNvPicPr>
          <p:nvPr/>
        </p:nvPicPr>
        <p:blipFill>
          <a:blip r:embed="rId5"/>
          <a:stretch>
            <a:fillRect/>
          </a:stretch>
        </p:blipFill>
        <p:spPr>
          <a:xfrm>
            <a:off x="8089516" y="1854579"/>
            <a:ext cx="4030518" cy="3148843"/>
          </a:xfrm>
          <a:prstGeom prst="rect">
            <a:avLst/>
          </a:prstGeom>
        </p:spPr>
      </p:pic>
    </p:spTree>
    <p:extLst>
      <p:ext uri="{BB962C8B-B14F-4D97-AF65-F5344CB8AC3E}">
        <p14:creationId xmlns:p14="http://schemas.microsoft.com/office/powerpoint/2010/main" val="288582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C3B4B-8B74-9507-B6AB-B3E65C3D8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B499C-4152-B14B-7D24-C88C663A4035}"/>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11" name="Picture 10">
            <a:extLst>
              <a:ext uri="{FF2B5EF4-FFF2-40B4-BE49-F238E27FC236}">
                <a16:creationId xmlns:a16="http://schemas.microsoft.com/office/drawing/2014/main" id="{5C4A2B1A-942C-06A1-DDAE-AD225D4DC86A}"/>
              </a:ext>
            </a:extLst>
          </p:cNvPr>
          <p:cNvPicPr>
            <a:picLocks noChangeAspect="1"/>
          </p:cNvPicPr>
          <p:nvPr/>
        </p:nvPicPr>
        <p:blipFill>
          <a:blip r:embed="rId3"/>
          <a:stretch>
            <a:fillRect/>
          </a:stretch>
        </p:blipFill>
        <p:spPr>
          <a:xfrm>
            <a:off x="2306782" y="1150793"/>
            <a:ext cx="6283938" cy="5353915"/>
          </a:xfrm>
          <a:prstGeom prst="rect">
            <a:avLst/>
          </a:prstGeom>
        </p:spPr>
      </p:pic>
    </p:spTree>
    <p:extLst>
      <p:ext uri="{BB962C8B-B14F-4D97-AF65-F5344CB8AC3E}">
        <p14:creationId xmlns:p14="http://schemas.microsoft.com/office/powerpoint/2010/main" val="465389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86A91-BAC9-62C3-AA7B-F3541D982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7A4DB-C7C1-FAB6-814D-829087D9A1FA}"/>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13" name="Picture 12">
            <a:extLst>
              <a:ext uri="{FF2B5EF4-FFF2-40B4-BE49-F238E27FC236}">
                <a16:creationId xmlns:a16="http://schemas.microsoft.com/office/drawing/2014/main" id="{DB21E18C-2FB8-E9BB-655D-8D28CF51D66B}"/>
              </a:ext>
            </a:extLst>
          </p:cNvPr>
          <p:cNvPicPr>
            <a:picLocks noChangeAspect="1"/>
          </p:cNvPicPr>
          <p:nvPr/>
        </p:nvPicPr>
        <p:blipFill>
          <a:blip r:embed="rId3"/>
          <a:stretch>
            <a:fillRect/>
          </a:stretch>
        </p:blipFill>
        <p:spPr>
          <a:xfrm>
            <a:off x="950839" y="1711901"/>
            <a:ext cx="8678289" cy="3608244"/>
          </a:xfrm>
          <a:prstGeom prst="rect">
            <a:avLst/>
          </a:prstGeom>
        </p:spPr>
      </p:pic>
    </p:spTree>
    <p:extLst>
      <p:ext uri="{BB962C8B-B14F-4D97-AF65-F5344CB8AC3E}">
        <p14:creationId xmlns:p14="http://schemas.microsoft.com/office/powerpoint/2010/main" val="4080626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2FA5-5280-9486-DD3B-01B1ADD08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183B7-8F8B-E7D5-45A9-A7BD49BAA002}"/>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Simple Linear Regression</a:t>
            </a:r>
            <a:endParaRPr lang="en-US" sz="4200" dirty="0">
              <a:latin typeface="Arial"/>
              <a:cs typeface="Arial"/>
            </a:endParaRPr>
          </a:p>
        </p:txBody>
      </p:sp>
      <p:pic>
        <p:nvPicPr>
          <p:cNvPr id="5" name="Picture 4">
            <a:extLst>
              <a:ext uri="{FF2B5EF4-FFF2-40B4-BE49-F238E27FC236}">
                <a16:creationId xmlns:a16="http://schemas.microsoft.com/office/drawing/2014/main" id="{0036C824-7C9A-CCD3-6E25-4FF7AA260659}"/>
              </a:ext>
            </a:extLst>
          </p:cNvPr>
          <p:cNvPicPr>
            <a:picLocks noChangeAspect="1"/>
          </p:cNvPicPr>
          <p:nvPr/>
        </p:nvPicPr>
        <p:blipFill>
          <a:blip r:embed="rId3"/>
          <a:stretch>
            <a:fillRect/>
          </a:stretch>
        </p:blipFill>
        <p:spPr>
          <a:xfrm>
            <a:off x="5346219" y="1039091"/>
            <a:ext cx="6637963" cy="4158202"/>
          </a:xfrm>
          <a:prstGeom prst="rect">
            <a:avLst/>
          </a:prstGeom>
        </p:spPr>
      </p:pic>
      <p:sp>
        <p:nvSpPr>
          <p:cNvPr id="6" name="TextBox 5">
            <a:extLst>
              <a:ext uri="{FF2B5EF4-FFF2-40B4-BE49-F238E27FC236}">
                <a16:creationId xmlns:a16="http://schemas.microsoft.com/office/drawing/2014/main" id="{E9084D92-A356-A2D1-19A0-D309E788F237}"/>
              </a:ext>
            </a:extLst>
          </p:cNvPr>
          <p:cNvSpPr txBox="1"/>
          <p:nvPr/>
        </p:nvSpPr>
        <p:spPr>
          <a:xfrm>
            <a:off x="454170" y="1350086"/>
            <a:ext cx="4969885" cy="4216539"/>
          </a:xfrm>
          <a:prstGeom prst="rect">
            <a:avLst/>
          </a:prstGeom>
          <a:noFill/>
        </p:spPr>
        <p:txBody>
          <a:bodyPr wrap="square" rtlCol="0">
            <a:spAutoFit/>
          </a:bodyPr>
          <a:lstStyle/>
          <a:p>
            <a:r>
              <a:rPr lang="en-US" sz="3200" b="1" u="sng" dirty="0">
                <a:latin typeface="Calibri"/>
                <a:cs typeface="Calibri"/>
              </a:rPr>
              <a:t>y = 1141.28 + 12.86 * x</a:t>
            </a:r>
            <a:r>
              <a:rPr lang="en-US" sz="3200" b="1" dirty="0">
                <a:latin typeface="Calibri"/>
                <a:cs typeface="Calibri"/>
              </a:rPr>
              <a:t> , </a:t>
            </a:r>
          </a:p>
          <a:p>
            <a:r>
              <a:rPr lang="en-US" sz="2800" b="1" dirty="0">
                <a:latin typeface="Calibri"/>
                <a:cs typeface="Calibri"/>
              </a:rPr>
              <a:t>where x – Facebook ad spend</a:t>
            </a:r>
          </a:p>
          <a:p>
            <a:r>
              <a:rPr lang="en-US" sz="2800" b="1" dirty="0">
                <a:latin typeface="Calibri"/>
                <a:cs typeface="Calibri"/>
              </a:rPr>
              <a:t>            y – Numer of Sales</a:t>
            </a:r>
          </a:p>
          <a:p>
            <a:endParaRPr lang="en-US" b="1" dirty="0">
              <a:latin typeface="Calibri"/>
              <a:cs typeface="Calibri"/>
            </a:endParaRPr>
          </a:p>
          <a:p>
            <a:endParaRPr lang="en-US" b="1" dirty="0">
              <a:latin typeface="Calibri"/>
              <a:cs typeface="Calibri"/>
            </a:endParaRPr>
          </a:p>
          <a:p>
            <a:r>
              <a:rPr lang="en-US" sz="2400" b="1" dirty="0">
                <a:latin typeface="Calibri"/>
                <a:cs typeface="Calibri"/>
              </a:rPr>
              <a:t>Example:</a:t>
            </a:r>
          </a:p>
          <a:p>
            <a:r>
              <a:rPr lang="en-US" sz="2400" b="1" dirty="0">
                <a:latin typeface="Calibri"/>
                <a:cs typeface="Calibri"/>
              </a:rPr>
              <a:t>Facebook ad spend is $300, </a:t>
            </a:r>
          </a:p>
          <a:p>
            <a:r>
              <a:rPr lang="en-US" sz="2400" b="1" dirty="0">
                <a:latin typeface="Calibri"/>
                <a:cs typeface="Calibri"/>
              </a:rPr>
              <a:t>then y = 1141.28 + 12.86 * 300</a:t>
            </a:r>
          </a:p>
          <a:p>
            <a:r>
              <a:rPr lang="en-US" sz="2400" b="1" dirty="0">
                <a:latin typeface="Calibri"/>
                <a:cs typeface="Calibri"/>
              </a:rPr>
              <a:t>y = 4999</a:t>
            </a:r>
          </a:p>
          <a:p>
            <a:endParaRPr lang="en-US" sz="2400" b="1" u="sng" dirty="0">
              <a:latin typeface="Calibri"/>
              <a:cs typeface="Calibri"/>
            </a:endParaRPr>
          </a:p>
          <a:p>
            <a:r>
              <a:rPr lang="en-US" sz="2400" b="1" u="sng" dirty="0">
                <a:latin typeface="Calibri"/>
                <a:cs typeface="Calibri"/>
              </a:rPr>
              <a:t>Predicted Sales 4,999</a:t>
            </a:r>
            <a:endParaRPr lang="en-US" sz="2400" u="sng" dirty="0"/>
          </a:p>
        </p:txBody>
      </p:sp>
    </p:spTree>
    <p:extLst>
      <p:ext uri="{BB962C8B-B14F-4D97-AF65-F5344CB8AC3E}">
        <p14:creationId xmlns:p14="http://schemas.microsoft.com/office/powerpoint/2010/main" val="646910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7D58-3759-65FA-284E-FEAE87CF0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C427A-0E0B-447C-F1C2-D34F53E99DEE}"/>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41461C29-38C6-5546-A106-6BC64C73FBB7}"/>
              </a:ext>
            </a:extLst>
          </p:cNvPr>
          <p:cNvPicPr>
            <a:picLocks noChangeAspect="1"/>
          </p:cNvPicPr>
          <p:nvPr/>
        </p:nvPicPr>
        <p:blipFill>
          <a:blip r:embed="rId3"/>
          <a:stretch>
            <a:fillRect/>
          </a:stretch>
        </p:blipFill>
        <p:spPr>
          <a:xfrm>
            <a:off x="640078" y="1310120"/>
            <a:ext cx="10857425" cy="4862079"/>
          </a:xfrm>
          <a:prstGeom prst="rect">
            <a:avLst/>
          </a:prstGeom>
        </p:spPr>
      </p:pic>
    </p:spTree>
    <p:extLst>
      <p:ext uri="{BB962C8B-B14F-4D97-AF65-F5344CB8AC3E}">
        <p14:creationId xmlns:p14="http://schemas.microsoft.com/office/powerpoint/2010/main" val="4233007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808C-018D-1CAF-D865-3031B6B8D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975F7-8688-DAAD-BF4E-98F709ED83B1}"/>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Assessing Model Fit </a:t>
            </a:r>
            <a:endParaRPr lang="en-US" sz="4200" dirty="0">
              <a:latin typeface="Arial"/>
              <a:cs typeface="Arial"/>
            </a:endParaRPr>
          </a:p>
        </p:txBody>
      </p:sp>
      <p:pic>
        <p:nvPicPr>
          <p:cNvPr id="5" name="Picture 4">
            <a:extLst>
              <a:ext uri="{FF2B5EF4-FFF2-40B4-BE49-F238E27FC236}">
                <a16:creationId xmlns:a16="http://schemas.microsoft.com/office/drawing/2014/main" id="{5E5CF40C-D67E-E5A4-0C23-C188227464A3}"/>
              </a:ext>
            </a:extLst>
          </p:cNvPr>
          <p:cNvPicPr>
            <a:picLocks noChangeAspect="1"/>
          </p:cNvPicPr>
          <p:nvPr/>
        </p:nvPicPr>
        <p:blipFill>
          <a:blip r:embed="rId3"/>
          <a:stretch>
            <a:fillRect/>
          </a:stretch>
        </p:blipFill>
        <p:spPr>
          <a:xfrm>
            <a:off x="6407999" y="1350086"/>
            <a:ext cx="5457825" cy="4210050"/>
          </a:xfrm>
          <a:prstGeom prst="rect">
            <a:avLst/>
          </a:prstGeom>
        </p:spPr>
      </p:pic>
      <p:pic>
        <p:nvPicPr>
          <p:cNvPr id="4" name="Picture 3">
            <a:extLst>
              <a:ext uri="{FF2B5EF4-FFF2-40B4-BE49-F238E27FC236}">
                <a16:creationId xmlns:a16="http://schemas.microsoft.com/office/drawing/2014/main" id="{7A6F38F4-4A12-EDB4-65C9-9F345E526990}"/>
              </a:ext>
            </a:extLst>
          </p:cNvPr>
          <p:cNvPicPr>
            <a:picLocks noChangeAspect="1"/>
          </p:cNvPicPr>
          <p:nvPr/>
        </p:nvPicPr>
        <p:blipFill>
          <a:blip r:embed="rId4"/>
          <a:stretch>
            <a:fillRect/>
          </a:stretch>
        </p:blipFill>
        <p:spPr>
          <a:xfrm>
            <a:off x="650535" y="1314450"/>
            <a:ext cx="5534025" cy="4229100"/>
          </a:xfrm>
          <a:prstGeom prst="rect">
            <a:avLst/>
          </a:prstGeom>
        </p:spPr>
      </p:pic>
    </p:spTree>
    <p:extLst>
      <p:ext uri="{BB962C8B-B14F-4D97-AF65-F5344CB8AC3E}">
        <p14:creationId xmlns:p14="http://schemas.microsoft.com/office/powerpoint/2010/main" val="1065362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DFCDB-1CDE-8C49-F35C-93030DBFB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1CE4A-9BB0-AE5C-4312-097EAC8DB253}"/>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10" name="Picture 9">
            <a:extLst>
              <a:ext uri="{FF2B5EF4-FFF2-40B4-BE49-F238E27FC236}">
                <a16:creationId xmlns:a16="http://schemas.microsoft.com/office/drawing/2014/main" id="{53550897-0A73-A64E-33E7-696DF0270076}"/>
              </a:ext>
            </a:extLst>
          </p:cNvPr>
          <p:cNvPicPr>
            <a:picLocks noChangeAspect="1"/>
          </p:cNvPicPr>
          <p:nvPr/>
        </p:nvPicPr>
        <p:blipFill>
          <a:blip r:embed="rId3"/>
          <a:stretch>
            <a:fillRect/>
          </a:stretch>
        </p:blipFill>
        <p:spPr>
          <a:xfrm>
            <a:off x="640078" y="1199284"/>
            <a:ext cx="5455921" cy="5356360"/>
          </a:xfrm>
          <a:prstGeom prst="rect">
            <a:avLst/>
          </a:prstGeom>
        </p:spPr>
      </p:pic>
    </p:spTree>
    <p:extLst>
      <p:ext uri="{BB962C8B-B14F-4D97-AF65-F5344CB8AC3E}">
        <p14:creationId xmlns:p14="http://schemas.microsoft.com/office/powerpoint/2010/main" val="2868333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ED5CD-769B-D6CE-34F6-4029299D4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C4A98-1711-FB6C-596C-037E0232C901}"/>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Multiple Linear Regression</a:t>
            </a:r>
            <a:endParaRPr lang="en-US" sz="4200" dirty="0">
              <a:latin typeface="Arial"/>
              <a:cs typeface="Arial"/>
            </a:endParaRPr>
          </a:p>
        </p:txBody>
      </p:sp>
      <p:sp>
        <p:nvSpPr>
          <p:cNvPr id="4" name="Content Placeholder 2">
            <a:extLst>
              <a:ext uri="{FF2B5EF4-FFF2-40B4-BE49-F238E27FC236}">
                <a16:creationId xmlns:a16="http://schemas.microsoft.com/office/drawing/2014/main" id="{2465CEFD-C916-322D-3CCF-94B4EF058CDD}"/>
              </a:ext>
            </a:extLst>
          </p:cNvPr>
          <p:cNvSpPr txBox="1">
            <a:spLocks/>
          </p:cNvSpPr>
          <p:nvPr/>
        </p:nvSpPr>
        <p:spPr>
          <a:xfrm>
            <a:off x="650535" y="1350086"/>
            <a:ext cx="5378527" cy="2380666"/>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buNone/>
            </a:pPr>
            <a:r>
              <a:rPr lang="en-US" sz="2800" b="1" u="sng" dirty="0">
                <a:solidFill>
                  <a:schemeClr val="tx2">
                    <a:lumMod val="90000"/>
                    <a:lumOff val="10000"/>
                  </a:schemeClr>
                </a:solidFill>
                <a:latin typeface="Arial"/>
                <a:cs typeface="Arial"/>
              </a:rPr>
              <a:t>Simple linear regression:</a:t>
            </a:r>
          </a:p>
          <a:p>
            <a:pPr fontAlgn="base">
              <a:lnSpc>
                <a:spcPct val="100000"/>
              </a:lnSpc>
              <a:buNone/>
            </a:pPr>
            <a:r>
              <a:rPr lang="en-US" sz="2800" b="1" dirty="0">
                <a:solidFill>
                  <a:schemeClr val="tx2">
                    <a:lumMod val="90000"/>
                    <a:lumOff val="10000"/>
                  </a:schemeClr>
                </a:solidFill>
                <a:latin typeface="Arial"/>
                <a:cs typeface="Arial"/>
              </a:rPr>
              <a:t>R-squared </a:t>
            </a:r>
            <a:r>
              <a:rPr lang="en-US" sz="2800" b="1" dirty="0">
                <a:solidFill>
                  <a:srgbClr val="7030A0"/>
                </a:solidFill>
                <a:latin typeface="Arial"/>
                <a:cs typeface="Arial"/>
              </a:rPr>
              <a:t>0.451</a:t>
            </a:r>
          </a:p>
          <a:p>
            <a:pPr fontAlgn="base">
              <a:lnSpc>
                <a:spcPct val="100000"/>
              </a:lnSpc>
              <a:buNone/>
            </a:pPr>
            <a:r>
              <a:rPr lang="en-US" sz="2800" b="1" u="sng" dirty="0">
                <a:solidFill>
                  <a:schemeClr val="tx2">
                    <a:lumMod val="90000"/>
                    <a:lumOff val="10000"/>
                  </a:schemeClr>
                </a:solidFill>
                <a:latin typeface="Arial"/>
                <a:cs typeface="Arial"/>
              </a:rPr>
              <a:t>Multiple linear regression:</a:t>
            </a:r>
          </a:p>
          <a:p>
            <a:pPr fontAlgn="base">
              <a:lnSpc>
                <a:spcPct val="100000"/>
              </a:lnSpc>
              <a:buNone/>
            </a:pPr>
            <a:r>
              <a:rPr lang="en-US" sz="2800" b="1" dirty="0">
                <a:solidFill>
                  <a:schemeClr val="tx2">
                    <a:lumMod val="90000"/>
                    <a:lumOff val="10000"/>
                  </a:schemeClr>
                </a:solidFill>
                <a:latin typeface="Arial"/>
                <a:cs typeface="Arial"/>
              </a:rPr>
              <a:t>R-squared </a:t>
            </a:r>
            <a:r>
              <a:rPr lang="en-US" sz="2800" b="1" dirty="0">
                <a:solidFill>
                  <a:srgbClr val="7030A0"/>
                </a:solidFill>
                <a:latin typeface="Arial"/>
                <a:cs typeface="Arial"/>
              </a:rPr>
              <a:t>0.650</a:t>
            </a:r>
          </a:p>
        </p:txBody>
      </p:sp>
      <p:pic>
        <p:nvPicPr>
          <p:cNvPr id="13" name="Picture 12">
            <a:extLst>
              <a:ext uri="{FF2B5EF4-FFF2-40B4-BE49-F238E27FC236}">
                <a16:creationId xmlns:a16="http://schemas.microsoft.com/office/drawing/2014/main" id="{3E67134E-6573-541D-4B0C-BB6BD68EFC0E}"/>
              </a:ext>
            </a:extLst>
          </p:cNvPr>
          <p:cNvPicPr>
            <a:picLocks noChangeAspect="1"/>
          </p:cNvPicPr>
          <p:nvPr/>
        </p:nvPicPr>
        <p:blipFill>
          <a:blip r:embed="rId3"/>
          <a:stretch>
            <a:fillRect/>
          </a:stretch>
        </p:blipFill>
        <p:spPr>
          <a:xfrm>
            <a:off x="6029062" y="971465"/>
            <a:ext cx="5931290" cy="387485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D229BF-A734-9135-BCF9-99AB8EB35FAD}"/>
                  </a:ext>
                </a:extLst>
              </p:cNvPr>
              <p:cNvSpPr txBox="1"/>
              <p:nvPr/>
            </p:nvSpPr>
            <p:spPr>
              <a:xfrm>
                <a:off x="650535" y="4918648"/>
                <a:ext cx="1039977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2">
                              <a:lumMod val="90000"/>
                              <a:lumOff val="10000"/>
                            </a:schemeClr>
                          </a:solidFill>
                          <a:latin typeface="Cambria Math" panose="02040503050406030204" pitchFamily="18" charset="0"/>
                        </a:rPr>
                        <m:t>𝑦</m:t>
                      </m:r>
                      <m:r>
                        <a:rPr lang="en-US" sz="3600" b="0" i="1" smtClean="0">
                          <a:solidFill>
                            <a:schemeClr val="tx2">
                              <a:lumMod val="90000"/>
                              <a:lumOff val="10000"/>
                            </a:schemeClr>
                          </a:solidFill>
                          <a:latin typeface="Cambria Math" panose="02040503050406030204" pitchFamily="18" charset="0"/>
                        </a:rPr>
                        <m:t>=−1944.96+13.50∗</m:t>
                      </m:r>
                      <m:sSub>
                        <m:sSubPr>
                          <m:ctrlPr>
                            <a:rPr lang="en-US" sz="3600" i="1" smtClean="0">
                              <a:solidFill>
                                <a:schemeClr val="tx2">
                                  <a:lumMod val="90000"/>
                                  <a:lumOff val="10000"/>
                                </a:schemeClr>
                              </a:solidFill>
                              <a:latin typeface="Cambria Math" panose="02040503050406030204" pitchFamily="18" charset="0"/>
                            </a:rPr>
                          </m:ctrlPr>
                        </m:sSubPr>
                        <m:e>
                          <m:r>
                            <a:rPr lang="en-US" sz="3600" b="0" i="1" smtClean="0">
                              <a:solidFill>
                                <a:schemeClr val="tx2">
                                  <a:lumMod val="90000"/>
                                  <a:lumOff val="10000"/>
                                </a:schemeClr>
                              </a:solidFill>
                              <a:latin typeface="Cambria Math" panose="02040503050406030204" pitchFamily="18" charset="0"/>
                            </a:rPr>
                            <m:t>𝑥</m:t>
                          </m:r>
                        </m:e>
                        <m:sub>
                          <m:r>
                            <a:rPr lang="en-US" sz="3600" b="0" i="1" smtClean="0">
                              <a:solidFill>
                                <a:schemeClr val="tx2">
                                  <a:lumMod val="90000"/>
                                  <a:lumOff val="10000"/>
                                </a:schemeClr>
                              </a:solidFill>
                              <a:latin typeface="Cambria Math" panose="02040503050406030204" pitchFamily="18" charset="0"/>
                            </a:rPr>
                            <m:t>1</m:t>
                          </m:r>
                        </m:sub>
                      </m:sSub>
                      <m:r>
                        <a:rPr lang="en-US" sz="3600" b="0" i="1" smtClean="0">
                          <a:solidFill>
                            <a:schemeClr val="tx2">
                              <a:lumMod val="90000"/>
                              <a:lumOff val="10000"/>
                            </a:schemeClr>
                          </a:solidFill>
                          <a:latin typeface="Cambria Math" panose="02040503050406030204" pitchFamily="18" charset="0"/>
                        </a:rPr>
                        <m:t>+15</m:t>
                      </m:r>
                      <m:r>
                        <a:rPr lang="en-US" sz="3600" i="1">
                          <a:solidFill>
                            <a:schemeClr val="tx2">
                              <a:lumMod val="90000"/>
                              <a:lumOff val="10000"/>
                            </a:schemeClr>
                          </a:solidFill>
                          <a:latin typeface="Cambria Math" panose="02040503050406030204" pitchFamily="18" charset="0"/>
                        </a:rPr>
                        <m:t>.</m:t>
                      </m:r>
                      <m:r>
                        <a:rPr lang="en-US" sz="3600" b="0" i="1" smtClean="0">
                          <a:solidFill>
                            <a:schemeClr val="tx2">
                              <a:lumMod val="90000"/>
                              <a:lumOff val="10000"/>
                            </a:schemeClr>
                          </a:solidFill>
                          <a:latin typeface="Cambria Math" panose="02040503050406030204" pitchFamily="18" charset="0"/>
                        </a:rPr>
                        <m:t>6</m:t>
                      </m:r>
                      <m:r>
                        <a:rPr lang="en-US" sz="3600" i="1">
                          <a:solidFill>
                            <a:schemeClr val="tx2">
                              <a:lumMod val="90000"/>
                              <a:lumOff val="10000"/>
                            </a:schemeClr>
                          </a:solidFill>
                          <a:latin typeface="Cambria Math" panose="02040503050406030204" pitchFamily="18" charset="0"/>
                        </a:rPr>
                        <m:t>0∗</m:t>
                      </m:r>
                      <m:sSub>
                        <m:sSubPr>
                          <m:ctrlPr>
                            <a:rPr lang="en-US" sz="3600" i="1">
                              <a:solidFill>
                                <a:schemeClr val="tx2">
                                  <a:lumMod val="90000"/>
                                  <a:lumOff val="10000"/>
                                </a:schemeClr>
                              </a:solidFill>
                              <a:latin typeface="Cambria Math" panose="02040503050406030204" pitchFamily="18" charset="0"/>
                            </a:rPr>
                          </m:ctrlPr>
                        </m:sSubPr>
                        <m:e>
                          <m:r>
                            <a:rPr lang="en-US" sz="3600" i="1">
                              <a:solidFill>
                                <a:schemeClr val="tx2">
                                  <a:lumMod val="90000"/>
                                  <a:lumOff val="10000"/>
                                </a:schemeClr>
                              </a:solidFill>
                              <a:latin typeface="Cambria Math" panose="02040503050406030204" pitchFamily="18" charset="0"/>
                            </a:rPr>
                            <m:t>𝑥</m:t>
                          </m:r>
                        </m:e>
                        <m:sub>
                          <m:r>
                            <a:rPr lang="en-US" sz="3600" b="0" i="1" smtClean="0">
                              <a:solidFill>
                                <a:schemeClr val="tx2">
                                  <a:lumMod val="90000"/>
                                  <a:lumOff val="10000"/>
                                </a:schemeClr>
                              </a:solidFill>
                              <a:latin typeface="Cambria Math" panose="02040503050406030204" pitchFamily="18" charset="0"/>
                            </a:rPr>
                            <m:t>2</m:t>
                          </m:r>
                        </m:sub>
                      </m:sSub>
                      <m:r>
                        <a:rPr lang="en-US" sz="3600" b="0" i="1" smtClean="0">
                          <a:solidFill>
                            <a:schemeClr val="tx2">
                              <a:lumMod val="90000"/>
                              <a:lumOff val="10000"/>
                            </a:schemeClr>
                          </a:solidFill>
                          <a:latin typeface="Cambria Math" panose="02040503050406030204" pitchFamily="18" charset="0"/>
                        </a:rPr>
                        <m:t>−8.60</m:t>
                      </m:r>
                      <m:r>
                        <a:rPr lang="en-US" sz="3600" i="1">
                          <a:solidFill>
                            <a:schemeClr val="tx2">
                              <a:lumMod val="90000"/>
                              <a:lumOff val="10000"/>
                            </a:schemeClr>
                          </a:solidFill>
                          <a:latin typeface="Cambria Math" panose="02040503050406030204" pitchFamily="18" charset="0"/>
                        </a:rPr>
                        <m:t>∗</m:t>
                      </m:r>
                      <m:sSub>
                        <m:sSubPr>
                          <m:ctrlPr>
                            <a:rPr lang="en-US" sz="3600" i="1">
                              <a:solidFill>
                                <a:schemeClr val="tx2">
                                  <a:lumMod val="90000"/>
                                  <a:lumOff val="10000"/>
                                </a:schemeClr>
                              </a:solidFill>
                              <a:latin typeface="Cambria Math" panose="02040503050406030204" pitchFamily="18" charset="0"/>
                            </a:rPr>
                          </m:ctrlPr>
                        </m:sSubPr>
                        <m:e>
                          <m:r>
                            <a:rPr lang="en-US" sz="3600" i="1">
                              <a:solidFill>
                                <a:schemeClr val="tx2">
                                  <a:lumMod val="90000"/>
                                  <a:lumOff val="10000"/>
                                </a:schemeClr>
                              </a:solidFill>
                              <a:latin typeface="Cambria Math" panose="02040503050406030204" pitchFamily="18" charset="0"/>
                            </a:rPr>
                            <m:t>𝑥</m:t>
                          </m:r>
                        </m:e>
                        <m:sub>
                          <m:r>
                            <a:rPr lang="en-US" sz="3600" b="0" i="1" smtClean="0">
                              <a:solidFill>
                                <a:schemeClr val="tx2">
                                  <a:lumMod val="90000"/>
                                  <a:lumOff val="10000"/>
                                </a:schemeClr>
                              </a:solidFill>
                              <a:latin typeface="Cambria Math" panose="02040503050406030204" pitchFamily="18" charset="0"/>
                            </a:rPr>
                            <m:t>3</m:t>
                          </m:r>
                        </m:sub>
                      </m:sSub>
                    </m:oMath>
                  </m:oMathPara>
                </a14:m>
                <a:endParaRPr lang="en-US" sz="36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20D229BF-A734-9135-BCF9-99AB8EB35FAD}"/>
                  </a:ext>
                </a:extLst>
              </p:cNvPr>
              <p:cNvSpPr txBox="1">
                <a:spLocks noRot="1" noChangeAspect="1" noMove="1" noResize="1" noEditPoints="1" noAdjustHandles="1" noChangeArrowheads="1" noChangeShapeType="1" noTextEdit="1"/>
              </p:cNvSpPr>
              <p:nvPr/>
            </p:nvSpPr>
            <p:spPr>
              <a:xfrm>
                <a:off x="650535" y="4918648"/>
                <a:ext cx="10399776" cy="646331"/>
              </a:xfrm>
              <a:prstGeom prst="rect">
                <a:avLst/>
              </a:prstGeom>
              <a:blipFill>
                <a:blip r:embed="rId4"/>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C9C83334-991C-3111-B071-D1E8139826C7}"/>
              </a:ext>
            </a:extLst>
          </p:cNvPr>
          <p:cNvSpPr txBox="1"/>
          <p:nvPr/>
        </p:nvSpPr>
        <p:spPr>
          <a:xfrm>
            <a:off x="650535" y="4458700"/>
            <a:ext cx="5003293" cy="738664"/>
          </a:xfrm>
          <a:prstGeom prst="rect">
            <a:avLst/>
          </a:prstGeom>
          <a:noFill/>
        </p:spPr>
        <p:txBody>
          <a:bodyPr wrap="none" rtlCol="0">
            <a:spAutoFit/>
          </a:bodyPr>
          <a:lstStyle/>
          <a:p>
            <a:r>
              <a:rPr lang="en-US" sz="2400" b="1" u="sng" dirty="0">
                <a:solidFill>
                  <a:schemeClr val="tx2">
                    <a:lumMod val="90000"/>
                    <a:lumOff val="10000"/>
                  </a:schemeClr>
                </a:solidFill>
                <a:latin typeface="Arial"/>
                <a:cs typeface="Arial"/>
              </a:rPr>
              <a:t>Multiple linear regression model:</a:t>
            </a:r>
          </a:p>
          <a:p>
            <a:endParaRPr lang="en-US" dirty="0"/>
          </a:p>
        </p:txBody>
      </p:sp>
    </p:spTree>
    <p:extLst>
      <p:ext uri="{BB962C8B-B14F-4D97-AF65-F5344CB8AC3E}">
        <p14:creationId xmlns:p14="http://schemas.microsoft.com/office/powerpoint/2010/main" val="128317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C6DDD-888B-573D-3665-4763F264F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6A7CE-B78E-B817-2EF1-6031F81AA325}"/>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6EA1891E-C19E-C47B-4889-B250A57155A1}"/>
              </a:ext>
            </a:extLst>
          </p:cNvPr>
          <p:cNvPicPr>
            <a:picLocks noChangeAspect="1"/>
          </p:cNvPicPr>
          <p:nvPr/>
        </p:nvPicPr>
        <p:blipFill>
          <a:blip r:embed="rId3"/>
          <a:stretch>
            <a:fillRect/>
          </a:stretch>
        </p:blipFill>
        <p:spPr>
          <a:xfrm>
            <a:off x="640079" y="1263793"/>
            <a:ext cx="10187397" cy="5240915"/>
          </a:xfrm>
          <a:prstGeom prst="rect">
            <a:avLst/>
          </a:prstGeom>
        </p:spPr>
      </p:pic>
    </p:spTree>
    <p:extLst>
      <p:ext uri="{BB962C8B-B14F-4D97-AF65-F5344CB8AC3E}">
        <p14:creationId xmlns:p14="http://schemas.microsoft.com/office/powerpoint/2010/main" val="196318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CDBAE-4CE1-A60B-5CDD-665F263B7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0BC04-43E0-6BFA-4863-909FD177214D}"/>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Forecasting </a:t>
            </a:r>
            <a:endParaRPr lang="en-US" sz="4200" dirty="0">
              <a:latin typeface="Arial"/>
              <a:cs typeface="Arial"/>
            </a:endParaRPr>
          </a:p>
        </p:txBody>
      </p:sp>
      <p:sp>
        <p:nvSpPr>
          <p:cNvPr id="3" name="Content Placeholder 2">
            <a:extLst>
              <a:ext uri="{FF2B5EF4-FFF2-40B4-BE49-F238E27FC236}">
                <a16:creationId xmlns:a16="http://schemas.microsoft.com/office/drawing/2014/main" id="{83CA3881-D965-D811-EFB5-978351C473AB}"/>
              </a:ext>
            </a:extLst>
          </p:cNvPr>
          <p:cNvSpPr>
            <a:spLocks noGrp="1"/>
          </p:cNvSpPr>
          <p:nvPr>
            <p:ph idx="1"/>
          </p:nvPr>
        </p:nvSpPr>
        <p:spPr>
          <a:xfrm>
            <a:off x="4681825" y="1365148"/>
            <a:ext cx="3008750" cy="464730"/>
          </a:xfrm>
        </p:spPr>
        <p:txBody>
          <a:bodyPr vert="horz" lIns="91440" tIns="45720" rIns="91440" bIns="45720" rtlCol="0" anchor="t">
            <a:normAutofit/>
          </a:bodyPr>
          <a:lstStyle/>
          <a:p>
            <a:pPr marL="0" indent="0" algn="l" rtl="0" fontAlgn="base">
              <a:lnSpc>
                <a:spcPct val="100000"/>
              </a:lnSpc>
              <a:buNone/>
            </a:pPr>
            <a:r>
              <a:rPr lang="en-US" b="0" i="0" dirty="0">
                <a:solidFill>
                  <a:srgbClr val="000000"/>
                </a:solidFill>
                <a:effectLst/>
                <a:latin typeface="Arial"/>
                <a:cs typeface="Arial"/>
              </a:rPr>
              <a:t>3-month moving average</a:t>
            </a:r>
          </a:p>
        </p:txBody>
      </p:sp>
      <p:sp>
        <p:nvSpPr>
          <p:cNvPr id="4" name="Content Placeholder 2">
            <a:extLst>
              <a:ext uri="{FF2B5EF4-FFF2-40B4-BE49-F238E27FC236}">
                <a16:creationId xmlns:a16="http://schemas.microsoft.com/office/drawing/2014/main" id="{DF930353-6111-67E1-887C-A21EDC1D5359}"/>
              </a:ext>
            </a:extLst>
          </p:cNvPr>
          <p:cNvSpPr txBox="1">
            <a:spLocks/>
          </p:cNvSpPr>
          <p:nvPr/>
        </p:nvSpPr>
        <p:spPr>
          <a:xfrm>
            <a:off x="8260080" y="1350086"/>
            <a:ext cx="3931920" cy="46473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buFont typeface="Arial" panose="020B0604020202020204" pitchFamily="34" charset="0"/>
              <a:buNone/>
            </a:pPr>
            <a:r>
              <a:rPr lang="en-US" dirty="0">
                <a:solidFill>
                  <a:srgbClr val="000000"/>
                </a:solidFill>
                <a:latin typeface="Arial"/>
                <a:cs typeface="Arial"/>
              </a:rPr>
              <a:t>An exponential smoothing</a:t>
            </a:r>
          </a:p>
        </p:txBody>
      </p:sp>
      <p:sp>
        <p:nvSpPr>
          <p:cNvPr id="11" name="Content Placeholder 2">
            <a:extLst>
              <a:ext uri="{FF2B5EF4-FFF2-40B4-BE49-F238E27FC236}">
                <a16:creationId xmlns:a16="http://schemas.microsoft.com/office/drawing/2014/main" id="{80900E66-B005-C29D-1EE6-9C75CADA82E6}"/>
              </a:ext>
            </a:extLst>
          </p:cNvPr>
          <p:cNvSpPr txBox="1">
            <a:spLocks/>
          </p:cNvSpPr>
          <p:nvPr/>
        </p:nvSpPr>
        <p:spPr>
          <a:xfrm>
            <a:off x="2393607" y="1350086"/>
            <a:ext cx="1877502" cy="46473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buFont typeface="Arial" panose="020B0604020202020204" pitchFamily="34" charset="0"/>
              <a:buNone/>
            </a:pPr>
            <a:r>
              <a:rPr lang="en-US" dirty="0">
                <a:solidFill>
                  <a:srgbClr val="000000"/>
                </a:solidFill>
                <a:latin typeface="Arial"/>
                <a:cs typeface="Arial"/>
              </a:rPr>
              <a:t>Actual Values</a:t>
            </a:r>
          </a:p>
        </p:txBody>
      </p:sp>
      <p:pic>
        <p:nvPicPr>
          <p:cNvPr id="15" name="Picture 14">
            <a:extLst>
              <a:ext uri="{FF2B5EF4-FFF2-40B4-BE49-F238E27FC236}">
                <a16:creationId xmlns:a16="http://schemas.microsoft.com/office/drawing/2014/main" id="{10A007E4-1919-8A5B-7223-B8434530976D}"/>
              </a:ext>
            </a:extLst>
          </p:cNvPr>
          <p:cNvPicPr>
            <a:picLocks noChangeAspect="1"/>
          </p:cNvPicPr>
          <p:nvPr/>
        </p:nvPicPr>
        <p:blipFill>
          <a:blip r:embed="rId3"/>
          <a:stretch>
            <a:fillRect/>
          </a:stretch>
        </p:blipFill>
        <p:spPr>
          <a:xfrm>
            <a:off x="964856" y="1798454"/>
            <a:ext cx="2696489" cy="3415552"/>
          </a:xfrm>
          <a:prstGeom prst="rect">
            <a:avLst/>
          </a:prstGeom>
        </p:spPr>
      </p:pic>
      <p:pic>
        <p:nvPicPr>
          <p:cNvPr id="17" name="Picture 16">
            <a:extLst>
              <a:ext uri="{FF2B5EF4-FFF2-40B4-BE49-F238E27FC236}">
                <a16:creationId xmlns:a16="http://schemas.microsoft.com/office/drawing/2014/main" id="{44939D7C-180E-FB40-FC66-E68AF2F97689}"/>
              </a:ext>
            </a:extLst>
          </p:cNvPr>
          <p:cNvPicPr>
            <a:picLocks noChangeAspect="1"/>
          </p:cNvPicPr>
          <p:nvPr/>
        </p:nvPicPr>
        <p:blipFill>
          <a:blip r:embed="rId4"/>
          <a:stretch>
            <a:fillRect/>
          </a:stretch>
        </p:blipFill>
        <p:spPr>
          <a:xfrm>
            <a:off x="5394120" y="1798455"/>
            <a:ext cx="1544265" cy="3415551"/>
          </a:xfrm>
          <a:prstGeom prst="rect">
            <a:avLst/>
          </a:prstGeom>
        </p:spPr>
      </p:pic>
      <p:sp>
        <p:nvSpPr>
          <p:cNvPr id="20" name="TextBox 19">
            <a:extLst>
              <a:ext uri="{FF2B5EF4-FFF2-40B4-BE49-F238E27FC236}">
                <a16:creationId xmlns:a16="http://schemas.microsoft.com/office/drawing/2014/main" id="{8CBAD7FE-B5DB-C457-8D23-CE9E54E6E327}"/>
              </a:ext>
            </a:extLst>
          </p:cNvPr>
          <p:cNvSpPr txBox="1"/>
          <p:nvPr/>
        </p:nvSpPr>
        <p:spPr>
          <a:xfrm>
            <a:off x="963023" y="5554184"/>
            <a:ext cx="10265952" cy="954107"/>
          </a:xfrm>
          <a:prstGeom prst="rect">
            <a:avLst/>
          </a:prstGeom>
          <a:noFill/>
        </p:spPr>
        <p:txBody>
          <a:bodyPr wrap="none" rtlCol="0">
            <a:spAutoFit/>
          </a:bodyPr>
          <a:lstStyle/>
          <a:p>
            <a:r>
              <a:rPr lang="en-US" sz="2800" b="1" dirty="0"/>
              <a:t>3-month moving average forecast for January 2025: </a:t>
            </a:r>
            <a:r>
              <a:rPr lang="en-US" sz="2800" b="1" dirty="0">
                <a:solidFill>
                  <a:schemeClr val="tx2">
                    <a:lumMod val="90000"/>
                    <a:lumOff val="10000"/>
                  </a:schemeClr>
                </a:solidFill>
              </a:rPr>
              <a:t>6059 Sales</a:t>
            </a:r>
          </a:p>
          <a:p>
            <a:r>
              <a:rPr lang="en-US" sz="2800" b="1" dirty="0"/>
              <a:t>An exponential smoothing forecast for January 2025: </a:t>
            </a:r>
            <a:r>
              <a:rPr lang="en-US" sz="2800" b="1" dirty="0">
                <a:solidFill>
                  <a:schemeClr val="tx2">
                    <a:lumMod val="90000"/>
                    <a:lumOff val="10000"/>
                  </a:schemeClr>
                </a:solidFill>
              </a:rPr>
              <a:t>6032 Sales</a:t>
            </a:r>
          </a:p>
        </p:txBody>
      </p:sp>
      <p:pic>
        <p:nvPicPr>
          <p:cNvPr id="22" name="Picture 21">
            <a:extLst>
              <a:ext uri="{FF2B5EF4-FFF2-40B4-BE49-F238E27FC236}">
                <a16:creationId xmlns:a16="http://schemas.microsoft.com/office/drawing/2014/main" id="{F6BC1600-D1B5-E53B-F2D2-1FC8E8C693F9}"/>
              </a:ext>
            </a:extLst>
          </p:cNvPr>
          <p:cNvPicPr>
            <a:picLocks noChangeAspect="1"/>
          </p:cNvPicPr>
          <p:nvPr/>
        </p:nvPicPr>
        <p:blipFill>
          <a:blip r:embed="rId5"/>
          <a:stretch>
            <a:fillRect/>
          </a:stretch>
        </p:blipFill>
        <p:spPr>
          <a:xfrm>
            <a:off x="8671160" y="2050199"/>
            <a:ext cx="2257232" cy="3239387"/>
          </a:xfrm>
          <a:prstGeom prst="rect">
            <a:avLst/>
          </a:prstGeom>
        </p:spPr>
      </p:pic>
    </p:spTree>
    <p:extLst>
      <p:ext uri="{BB962C8B-B14F-4D97-AF65-F5344CB8AC3E}">
        <p14:creationId xmlns:p14="http://schemas.microsoft.com/office/powerpoint/2010/main" val="2843816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399DB-69A3-455D-83B4-E44E7E8A3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93445-D6D0-5D0D-FD6A-3A4724DDD0B3}"/>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FC2252A8-2B72-B4A6-0CD8-D6A64038DC03}"/>
              </a:ext>
            </a:extLst>
          </p:cNvPr>
          <p:cNvPicPr>
            <a:picLocks noChangeAspect="1"/>
          </p:cNvPicPr>
          <p:nvPr/>
        </p:nvPicPr>
        <p:blipFill>
          <a:blip r:embed="rId3"/>
          <a:stretch>
            <a:fillRect/>
          </a:stretch>
        </p:blipFill>
        <p:spPr>
          <a:xfrm>
            <a:off x="640079" y="1138237"/>
            <a:ext cx="7672648" cy="5677760"/>
          </a:xfrm>
          <a:prstGeom prst="rect">
            <a:avLst/>
          </a:prstGeom>
        </p:spPr>
      </p:pic>
    </p:spTree>
    <p:extLst>
      <p:ext uri="{BB962C8B-B14F-4D97-AF65-F5344CB8AC3E}">
        <p14:creationId xmlns:p14="http://schemas.microsoft.com/office/powerpoint/2010/main" val="3786357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E8335-1D8D-9C02-ED64-C37461177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ACA3C-71F7-D64E-F13F-E1C31AAF40B3}"/>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E67902D4-C7B3-EB90-4373-4C7BF8EB158C}"/>
              </a:ext>
            </a:extLst>
          </p:cNvPr>
          <p:cNvPicPr>
            <a:picLocks noChangeAspect="1"/>
          </p:cNvPicPr>
          <p:nvPr/>
        </p:nvPicPr>
        <p:blipFill>
          <a:blip r:embed="rId3"/>
          <a:stretch>
            <a:fillRect/>
          </a:stretch>
        </p:blipFill>
        <p:spPr>
          <a:xfrm>
            <a:off x="640079" y="1101436"/>
            <a:ext cx="10127990" cy="5590309"/>
          </a:xfrm>
          <a:prstGeom prst="rect">
            <a:avLst/>
          </a:prstGeom>
        </p:spPr>
      </p:pic>
    </p:spTree>
    <p:extLst>
      <p:ext uri="{BB962C8B-B14F-4D97-AF65-F5344CB8AC3E}">
        <p14:creationId xmlns:p14="http://schemas.microsoft.com/office/powerpoint/2010/main" val="2339656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CEEF9-34E5-034C-C9BE-16EB75DA3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CA468-CF4A-2C03-ADBE-5460A2FC66D1}"/>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Machine Learning Models</a:t>
            </a:r>
            <a:r>
              <a:rPr lang="en-US" sz="4200" b="0" i="0" dirty="0">
                <a:solidFill>
                  <a:srgbClr val="0F4761"/>
                </a:solidFill>
                <a:effectLst/>
                <a:latin typeface="Arial"/>
                <a:cs typeface="Arial"/>
              </a:rPr>
              <a:t> </a:t>
            </a:r>
            <a:endParaRPr lang="en-US" sz="4200" dirty="0">
              <a:latin typeface="Arial"/>
              <a:cs typeface="Arial"/>
            </a:endParaRPr>
          </a:p>
        </p:txBody>
      </p:sp>
      <p:sp>
        <p:nvSpPr>
          <p:cNvPr id="8" name="TextBox 7">
            <a:extLst>
              <a:ext uri="{FF2B5EF4-FFF2-40B4-BE49-F238E27FC236}">
                <a16:creationId xmlns:a16="http://schemas.microsoft.com/office/drawing/2014/main" id="{B542F681-0CE2-E32D-AD87-924918EBB5DE}"/>
              </a:ext>
            </a:extLst>
          </p:cNvPr>
          <p:cNvSpPr txBox="1"/>
          <p:nvPr/>
        </p:nvSpPr>
        <p:spPr>
          <a:xfrm>
            <a:off x="650535" y="1560398"/>
            <a:ext cx="11046614" cy="4031873"/>
          </a:xfrm>
          <a:prstGeom prst="rect">
            <a:avLst/>
          </a:prstGeom>
          <a:noFill/>
        </p:spPr>
        <p:txBody>
          <a:bodyPr wrap="none" rtlCol="0">
            <a:spAutoFit/>
          </a:bodyPr>
          <a:lstStyle/>
          <a:p>
            <a:pPr algn="ctr"/>
            <a:r>
              <a:rPr lang="en-US" sz="3200" b="1" dirty="0">
                <a:solidFill>
                  <a:schemeClr val="tx2">
                    <a:lumMod val="90000"/>
                    <a:lumOff val="10000"/>
                  </a:schemeClr>
                </a:solidFill>
                <a:latin typeface="Arial" panose="020B0604020202020204" pitchFamily="34" charset="0"/>
                <a:cs typeface="Arial" panose="020B0604020202020204" pitchFamily="34" charset="0"/>
              </a:rPr>
              <a:t>Lower RMSE values indicate better model performance!</a:t>
            </a:r>
          </a:p>
          <a:p>
            <a:pPr algn="ctr"/>
            <a:endParaRPr lang="en-US" sz="3200" b="1" dirty="0">
              <a:solidFill>
                <a:schemeClr val="tx2">
                  <a:lumMod val="90000"/>
                  <a:lumOff val="10000"/>
                </a:schemeClr>
              </a:solidFill>
              <a:latin typeface="Arial" panose="020B0604020202020204" pitchFamily="34" charset="0"/>
              <a:cs typeface="Arial" panose="020B0604020202020204" pitchFamily="34" charset="0"/>
            </a:endParaRPr>
          </a:p>
          <a:p>
            <a:pPr algn="ctr"/>
            <a:endParaRPr lang="en-US" sz="3200" b="1" dirty="0">
              <a:solidFill>
                <a:schemeClr val="tx2">
                  <a:lumMod val="90000"/>
                  <a:lumOff val="10000"/>
                </a:schemeClr>
              </a:solidFill>
              <a:latin typeface="Arial" panose="020B0604020202020204" pitchFamily="34" charset="0"/>
              <a:cs typeface="Arial" panose="020B0604020202020204" pitchFamily="34" charset="0"/>
            </a:endParaRPr>
          </a:p>
          <a:p>
            <a:pPr algn="ctr"/>
            <a:endParaRPr lang="en-US" sz="3200" b="1" dirty="0">
              <a:solidFill>
                <a:schemeClr val="tx2">
                  <a:lumMod val="90000"/>
                  <a:lumOff val="10000"/>
                </a:schemeClr>
              </a:solidFill>
              <a:latin typeface="Arial" panose="020B0604020202020204" pitchFamily="34" charset="0"/>
              <a:cs typeface="Arial" panose="020B0604020202020204" pitchFamily="34" charset="0"/>
            </a:endParaRPr>
          </a:p>
          <a:p>
            <a:pPr algn="ctr"/>
            <a:endParaRPr lang="en-US" sz="3200" b="1" dirty="0">
              <a:solidFill>
                <a:schemeClr val="tx2">
                  <a:lumMod val="90000"/>
                  <a:lumOff val="10000"/>
                </a:schemeClr>
              </a:solidFill>
              <a:latin typeface="Arial" panose="020B0604020202020204" pitchFamily="34" charset="0"/>
              <a:cs typeface="Arial" panose="020B0604020202020204" pitchFamily="34" charset="0"/>
            </a:endParaRPr>
          </a:p>
          <a:p>
            <a:pPr algn="ctr"/>
            <a:r>
              <a:rPr lang="en-US" sz="3200" b="1" dirty="0">
                <a:solidFill>
                  <a:schemeClr val="tx2">
                    <a:lumMod val="90000"/>
                    <a:lumOff val="10000"/>
                  </a:schemeClr>
                </a:solidFill>
                <a:latin typeface="Arial" panose="020B0604020202020204" pitchFamily="34" charset="0"/>
                <a:cs typeface="Arial" panose="020B0604020202020204" pitchFamily="34" charset="0"/>
              </a:rPr>
              <a:t>Multiple linear Regression Model provides more </a:t>
            </a:r>
          </a:p>
          <a:p>
            <a:pPr algn="ctr"/>
            <a:r>
              <a:rPr lang="en-US" sz="3200" b="1" dirty="0">
                <a:solidFill>
                  <a:schemeClr val="tx2">
                    <a:lumMod val="90000"/>
                    <a:lumOff val="10000"/>
                  </a:schemeClr>
                </a:solidFill>
                <a:latin typeface="Arial" panose="020B0604020202020204" pitchFamily="34" charset="0"/>
                <a:cs typeface="Arial" panose="020B0604020202020204" pitchFamily="34" charset="0"/>
              </a:rPr>
              <a:t>accurate predictions with lower error compared </a:t>
            </a:r>
          </a:p>
          <a:p>
            <a:pPr algn="ctr"/>
            <a:r>
              <a:rPr lang="en-US" sz="3200" b="1" dirty="0">
                <a:solidFill>
                  <a:schemeClr val="tx2">
                    <a:lumMod val="90000"/>
                    <a:lumOff val="10000"/>
                  </a:schemeClr>
                </a:solidFill>
                <a:latin typeface="Arial" panose="020B0604020202020204" pitchFamily="34" charset="0"/>
                <a:cs typeface="Arial" panose="020B0604020202020204" pitchFamily="34" charset="0"/>
              </a:rPr>
              <a:t>to the Decision Tree model.</a:t>
            </a:r>
          </a:p>
        </p:txBody>
      </p:sp>
      <p:pic>
        <p:nvPicPr>
          <p:cNvPr id="4" name="Picture 3">
            <a:extLst>
              <a:ext uri="{FF2B5EF4-FFF2-40B4-BE49-F238E27FC236}">
                <a16:creationId xmlns:a16="http://schemas.microsoft.com/office/drawing/2014/main" id="{52BD453E-4895-46C4-ED77-5E717019E0B3}"/>
              </a:ext>
            </a:extLst>
          </p:cNvPr>
          <p:cNvPicPr>
            <a:picLocks noChangeAspect="1"/>
          </p:cNvPicPr>
          <p:nvPr/>
        </p:nvPicPr>
        <p:blipFill>
          <a:blip r:embed="rId3"/>
          <a:stretch>
            <a:fillRect/>
          </a:stretch>
        </p:blipFill>
        <p:spPr>
          <a:xfrm>
            <a:off x="825822" y="2658427"/>
            <a:ext cx="10871327" cy="770573"/>
          </a:xfrm>
          <a:prstGeom prst="rect">
            <a:avLst/>
          </a:prstGeom>
        </p:spPr>
      </p:pic>
    </p:spTree>
    <p:extLst>
      <p:ext uri="{BB962C8B-B14F-4D97-AF65-F5344CB8AC3E}">
        <p14:creationId xmlns:p14="http://schemas.microsoft.com/office/powerpoint/2010/main" val="3657687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A23C4-3404-8405-A4EF-D4477BAEE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70F3E-7901-4F92-2653-6867616F460E}"/>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E3811D1F-5912-97AD-8111-0D238AB52539}"/>
              </a:ext>
            </a:extLst>
          </p:cNvPr>
          <p:cNvPicPr>
            <a:picLocks noChangeAspect="1"/>
          </p:cNvPicPr>
          <p:nvPr/>
        </p:nvPicPr>
        <p:blipFill>
          <a:blip r:embed="rId3"/>
          <a:stretch>
            <a:fillRect/>
          </a:stretch>
        </p:blipFill>
        <p:spPr>
          <a:xfrm>
            <a:off x="665818" y="1259031"/>
            <a:ext cx="8104109" cy="5184351"/>
          </a:xfrm>
          <a:prstGeom prst="rect">
            <a:avLst/>
          </a:prstGeom>
        </p:spPr>
      </p:pic>
    </p:spTree>
    <p:extLst>
      <p:ext uri="{BB962C8B-B14F-4D97-AF65-F5344CB8AC3E}">
        <p14:creationId xmlns:p14="http://schemas.microsoft.com/office/powerpoint/2010/main" val="120739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772AA-9893-A3FD-323E-52AC6B1E4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04EED-E034-3729-F292-A64A2ACF0F8E}"/>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4" name="Picture 3">
            <a:extLst>
              <a:ext uri="{FF2B5EF4-FFF2-40B4-BE49-F238E27FC236}">
                <a16:creationId xmlns:a16="http://schemas.microsoft.com/office/drawing/2014/main" id="{785F81E5-98D5-201F-D55D-DCECCD288926}"/>
              </a:ext>
            </a:extLst>
          </p:cNvPr>
          <p:cNvPicPr>
            <a:picLocks noChangeAspect="1"/>
          </p:cNvPicPr>
          <p:nvPr/>
        </p:nvPicPr>
        <p:blipFill>
          <a:blip r:embed="rId3"/>
          <a:stretch>
            <a:fillRect/>
          </a:stretch>
        </p:blipFill>
        <p:spPr>
          <a:xfrm>
            <a:off x="640079" y="1156421"/>
            <a:ext cx="9626139" cy="5471557"/>
          </a:xfrm>
          <a:prstGeom prst="rect">
            <a:avLst/>
          </a:prstGeom>
        </p:spPr>
      </p:pic>
    </p:spTree>
    <p:extLst>
      <p:ext uri="{BB962C8B-B14F-4D97-AF65-F5344CB8AC3E}">
        <p14:creationId xmlns:p14="http://schemas.microsoft.com/office/powerpoint/2010/main" val="3630732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029A8-0BB4-17F8-39CF-FAE49EFB3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CC9E1-EC3E-93DF-4DCA-DBC09F2B95BA}"/>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Monte Carlo Simulation</a:t>
            </a:r>
            <a:r>
              <a:rPr lang="en-US" sz="4200" b="0" i="0" dirty="0">
                <a:solidFill>
                  <a:srgbClr val="0F4761"/>
                </a:solidFill>
                <a:effectLst/>
                <a:latin typeface="Arial"/>
                <a:cs typeface="Arial"/>
              </a:rPr>
              <a:t> </a:t>
            </a:r>
            <a:endParaRPr lang="en-US" sz="4200" dirty="0">
              <a:latin typeface="Arial"/>
              <a:cs typeface="Arial"/>
            </a:endParaRPr>
          </a:p>
        </p:txBody>
      </p:sp>
      <p:pic>
        <p:nvPicPr>
          <p:cNvPr id="7" name="Picture 6">
            <a:extLst>
              <a:ext uri="{FF2B5EF4-FFF2-40B4-BE49-F238E27FC236}">
                <a16:creationId xmlns:a16="http://schemas.microsoft.com/office/drawing/2014/main" id="{5591E178-E340-36D4-C1C8-7560D3EC9340}"/>
              </a:ext>
            </a:extLst>
          </p:cNvPr>
          <p:cNvPicPr>
            <a:picLocks noChangeAspect="1"/>
          </p:cNvPicPr>
          <p:nvPr/>
        </p:nvPicPr>
        <p:blipFill>
          <a:blip r:embed="rId3"/>
          <a:stretch>
            <a:fillRect/>
          </a:stretch>
        </p:blipFill>
        <p:spPr>
          <a:xfrm>
            <a:off x="158495" y="1092067"/>
            <a:ext cx="6981635" cy="5513127"/>
          </a:xfrm>
          <a:prstGeom prst="rect">
            <a:avLst/>
          </a:prstGeom>
        </p:spPr>
      </p:pic>
      <p:sp>
        <p:nvSpPr>
          <p:cNvPr id="10" name="TextBox 9">
            <a:extLst>
              <a:ext uri="{FF2B5EF4-FFF2-40B4-BE49-F238E27FC236}">
                <a16:creationId xmlns:a16="http://schemas.microsoft.com/office/drawing/2014/main" id="{9DC05CBB-4EC3-C0C5-216E-F0604D971265}"/>
              </a:ext>
            </a:extLst>
          </p:cNvPr>
          <p:cNvSpPr txBox="1"/>
          <p:nvPr/>
        </p:nvSpPr>
        <p:spPr>
          <a:xfrm>
            <a:off x="7009701" y="1898726"/>
            <a:ext cx="5182299" cy="3539430"/>
          </a:xfrm>
          <a:prstGeom prst="rect">
            <a:avLst/>
          </a:prstGeom>
          <a:noFill/>
        </p:spPr>
        <p:txBody>
          <a:bodyPr wrap="square" rtlCol="0">
            <a:spAutoFit/>
          </a:bodyPr>
          <a:lstStyle/>
          <a:p>
            <a:r>
              <a:rPr lang="en-US" sz="2800" dirty="0">
                <a:solidFill>
                  <a:schemeClr val="tx2">
                    <a:lumMod val="90000"/>
                    <a:lumOff val="10000"/>
                  </a:schemeClr>
                </a:solidFill>
                <a:latin typeface="Arial" panose="020B0604020202020204" pitchFamily="34" charset="0"/>
                <a:cs typeface="Arial" panose="020B0604020202020204" pitchFamily="34" charset="0"/>
              </a:rPr>
              <a:t>Estimated Average Monthly Revenue: </a:t>
            </a:r>
            <a:r>
              <a:rPr lang="en-US" sz="2800" b="1" dirty="0">
                <a:solidFill>
                  <a:srgbClr val="FF0000"/>
                </a:solidFill>
                <a:latin typeface="Arial" panose="020B0604020202020204" pitchFamily="34" charset="0"/>
                <a:cs typeface="Arial" panose="020B0604020202020204" pitchFamily="34" charset="0"/>
              </a:rPr>
              <a:t>$149,890.15</a:t>
            </a:r>
          </a:p>
          <a:p>
            <a:endParaRPr lang="en-US" sz="2800" dirty="0">
              <a:solidFill>
                <a:schemeClr val="tx2">
                  <a:lumMod val="90000"/>
                  <a:lumOff val="10000"/>
                </a:schemeClr>
              </a:solidFill>
              <a:latin typeface="Arial" panose="020B0604020202020204" pitchFamily="34" charset="0"/>
              <a:cs typeface="Arial" panose="020B0604020202020204" pitchFamily="34" charset="0"/>
            </a:endParaRPr>
          </a:p>
          <a:p>
            <a:r>
              <a:rPr lang="en-US" sz="2800" dirty="0">
                <a:solidFill>
                  <a:schemeClr val="tx2">
                    <a:lumMod val="90000"/>
                    <a:lumOff val="10000"/>
                  </a:schemeClr>
                </a:solidFill>
                <a:latin typeface="Arial" panose="020B0604020202020204" pitchFamily="34" charset="0"/>
                <a:cs typeface="Arial" panose="020B0604020202020204" pitchFamily="34" charset="0"/>
              </a:rPr>
              <a:t>Median Monthly Revenue:</a:t>
            </a:r>
          </a:p>
          <a:p>
            <a:r>
              <a:rPr lang="en-US" sz="2800" b="1" dirty="0">
                <a:solidFill>
                  <a:srgbClr val="00B050"/>
                </a:solidFill>
                <a:latin typeface="Arial" panose="020B0604020202020204" pitchFamily="34" charset="0"/>
                <a:cs typeface="Arial" panose="020B0604020202020204" pitchFamily="34" charset="0"/>
              </a:rPr>
              <a:t>$149,894.50</a:t>
            </a:r>
          </a:p>
          <a:p>
            <a:endParaRPr lang="en-US" sz="2800" dirty="0">
              <a:solidFill>
                <a:schemeClr val="tx2">
                  <a:lumMod val="90000"/>
                  <a:lumOff val="10000"/>
                </a:schemeClr>
              </a:solidFill>
              <a:latin typeface="Arial" panose="020B0604020202020204" pitchFamily="34" charset="0"/>
              <a:cs typeface="Arial" panose="020B0604020202020204" pitchFamily="34" charset="0"/>
            </a:endParaRPr>
          </a:p>
          <a:p>
            <a:r>
              <a:rPr lang="en-US" sz="2800" dirty="0">
                <a:solidFill>
                  <a:schemeClr val="tx2">
                    <a:lumMod val="90000"/>
                    <a:lumOff val="10000"/>
                  </a:schemeClr>
                </a:solidFill>
                <a:latin typeface="Arial" panose="020B0604020202020204" pitchFamily="34" charset="0"/>
                <a:cs typeface="Arial" panose="020B0604020202020204" pitchFamily="34" charset="0"/>
              </a:rPr>
              <a:t>Standard Deviation of Monthly Revenue: </a:t>
            </a:r>
            <a:r>
              <a:rPr lang="en-US" sz="2800" b="1" dirty="0">
                <a:solidFill>
                  <a:srgbClr val="7030A0"/>
                </a:solidFill>
                <a:latin typeface="Arial" panose="020B0604020202020204" pitchFamily="34" charset="0"/>
                <a:cs typeface="Arial" panose="020B0604020202020204" pitchFamily="34" charset="0"/>
              </a:rPr>
              <a:t>$8,165.60</a:t>
            </a:r>
          </a:p>
        </p:txBody>
      </p:sp>
    </p:spTree>
    <p:extLst>
      <p:ext uri="{BB962C8B-B14F-4D97-AF65-F5344CB8AC3E}">
        <p14:creationId xmlns:p14="http://schemas.microsoft.com/office/powerpoint/2010/main" val="183821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14805-4767-70CD-47F3-29596C9F1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BA374-C1DE-E16C-9EBB-FE69BC34019B}"/>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6" name="Picture 5">
            <a:extLst>
              <a:ext uri="{FF2B5EF4-FFF2-40B4-BE49-F238E27FC236}">
                <a16:creationId xmlns:a16="http://schemas.microsoft.com/office/drawing/2014/main" id="{CC8A6837-E3DB-B89B-47B6-B08A04950108}"/>
              </a:ext>
            </a:extLst>
          </p:cNvPr>
          <p:cNvPicPr>
            <a:picLocks noChangeAspect="1"/>
          </p:cNvPicPr>
          <p:nvPr/>
        </p:nvPicPr>
        <p:blipFill>
          <a:blip r:embed="rId3"/>
          <a:stretch>
            <a:fillRect/>
          </a:stretch>
        </p:blipFill>
        <p:spPr>
          <a:xfrm>
            <a:off x="640079" y="1243012"/>
            <a:ext cx="8705482" cy="5261696"/>
          </a:xfrm>
          <a:prstGeom prst="rect">
            <a:avLst/>
          </a:prstGeom>
        </p:spPr>
      </p:pic>
    </p:spTree>
    <p:extLst>
      <p:ext uri="{BB962C8B-B14F-4D97-AF65-F5344CB8AC3E}">
        <p14:creationId xmlns:p14="http://schemas.microsoft.com/office/powerpoint/2010/main" val="3929347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7D3A-A2B4-C34E-4613-4DF59990C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FA4EE-A5D5-9B4E-78A7-DB62702A9F10}"/>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5" name="Picture 4">
            <a:extLst>
              <a:ext uri="{FF2B5EF4-FFF2-40B4-BE49-F238E27FC236}">
                <a16:creationId xmlns:a16="http://schemas.microsoft.com/office/drawing/2014/main" id="{D2C19759-1624-D1D3-776F-E72D344ECA0A}"/>
              </a:ext>
            </a:extLst>
          </p:cNvPr>
          <p:cNvPicPr>
            <a:picLocks noChangeAspect="1"/>
          </p:cNvPicPr>
          <p:nvPr/>
        </p:nvPicPr>
        <p:blipFill>
          <a:blip r:embed="rId3"/>
          <a:stretch>
            <a:fillRect/>
          </a:stretch>
        </p:blipFill>
        <p:spPr>
          <a:xfrm>
            <a:off x="640079" y="1679431"/>
            <a:ext cx="11205891" cy="2165206"/>
          </a:xfrm>
          <a:prstGeom prst="rect">
            <a:avLst/>
          </a:prstGeom>
        </p:spPr>
      </p:pic>
    </p:spTree>
    <p:extLst>
      <p:ext uri="{BB962C8B-B14F-4D97-AF65-F5344CB8AC3E}">
        <p14:creationId xmlns:p14="http://schemas.microsoft.com/office/powerpoint/2010/main" val="3115737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A69BA-9F59-BE48-87F0-0B76E453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A1E80-8CDA-E1D2-F0F0-21947CB4E275}"/>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Linear Programming</a:t>
            </a:r>
            <a:r>
              <a:rPr lang="en-US" sz="4200" b="0" i="0" dirty="0">
                <a:solidFill>
                  <a:srgbClr val="0F4761"/>
                </a:solidFill>
                <a:effectLst/>
                <a:latin typeface="Arial"/>
                <a:cs typeface="Arial"/>
              </a:rPr>
              <a:t> </a:t>
            </a:r>
            <a:endParaRPr lang="en-US" sz="4200" dirty="0">
              <a:latin typeface="Arial"/>
              <a:cs typeface="Arial"/>
            </a:endParaRPr>
          </a:p>
        </p:txBody>
      </p:sp>
      <p:pic>
        <p:nvPicPr>
          <p:cNvPr id="9" name="Picture 8">
            <a:extLst>
              <a:ext uri="{FF2B5EF4-FFF2-40B4-BE49-F238E27FC236}">
                <a16:creationId xmlns:a16="http://schemas.microsoft.com/office/drawing/2014/main" id="{1A248131-C990-89FE-5A0B-EB8A4226CDC9}"/>
              </a:ext>
            </a:extLst>
          </p:cNvPr>
          <p:cNvPicPr>
            <a:picLocks noChangeAspect="1"/>
          </p:cNvPicPr>
          <p:nvPr/>
        </p:nvPicPr>
        <p:blipFill>
          <a:blip r:embed="rId3"/>
          <a:stretch>
            <a:fillRect/>
          </a:stretch>
        </p:blipFill>
        <p:spPr>
          <a:xfrm>
            <a:off x="543367" y="1752353"/>
            <a:ext cx="10998097" cy="2258538"/>
          </a:xfrm>
          <a:prstGeom prst="rect">
            <a:avLst/>
          </a:prstGeom>
        </p:spPr>
      </p:pic>
    </p:spTree>
    <p:extLst>
      <p:ext uri="{BB962C8B-B14F-4D97-AF65-F5344CB8AC3E}">
        <p14:creationId xmlns:p14="http://schemas.microsoft.com/office/powerpoint/2010/main" val="1504570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8D65-8957-299B-2195-6EBA545C7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01AAC-2F27-0F8F-801C-FCB3C216A488}"/>
              </a:ext>
            </a:extLst>
          </p:cNvPr>
          <p:cNvSpPr>
            <a:spLocks noGrp="1"/>
          </p:cNvSpPr>
          <p:nvPr>
            <p:ph type="title"/>
          </p:nvPr>
        </p:nvSpPr>
        <p:spPr>
          <a:xfrm>
            <a:off x="640079" y="353292"/>
            <a:ext cx="10890929" cy="644235"/>
          </a:xfrm>
        </p:spPr>
        <p:txBody>
          <a:bodyPr>
            <a:normAutofit fontScale="90000"/>
          </a:bodyPr>
          <a:lstStyle/>
          <a:p>
            <a:r>
              <a:rPr lang="en-US" dirty="0">
                <a:solidFill>
                  <a:schemeClr val="tx2">
                    <a:lumMod val="90000"/>
                    <a:lumOff val="10000"/>
                  </a:schemeClr>
                </a:solidFill>
                <a:latin typeface="Arial" panose="020B0604020202020204" pitchFamily="34" charset="0"/>
                <a:cs typeface="Arial" panose="020B0604020202020204" pitchFamily="34" charset="0"/>
              </a:rPr>
              <a:t>Python code snippets</a:t>
            </a:r>
          </a:p>
        </p:txBody>
      </p:sp>
      <p:pic>
        <p:nvPicPr>
          <p:cNvPr id="3" name="Picture 2">
            <a:extLst>
              <a:ext uri="{FF2B5EF4-FFF2-40B4-BE49-F238E27FC236}">
                <a16:creationId xmlns:a16="http://schemas.microsoft.com/office/drawing/2014/main" id="{F0A0E300-C05F-1F56-3014-FC8C14DFDCD1}"/>
              </a:ext>
            </a:extLst>
          </p:cNvPr>
          <p:cNvPicPr>
            <a:picLocks noChangeAspect="1"/>
          </p:cNvPicPr>
          <p:nvPr/>
        </p:nvPicPr>
        <p:blipFill>
          <a:blip r:embed="rId3"/>
          <a:stretch>
            <a:fillRect/>
          </a:stretch>
        </p:blipFill>
        <p:spPr>
          <a:xfrm>
            <a:off x="462315" y="1122218"/>
            <a:ext cx="5961872" cy="5019183"/>
          </a:xfrm>
          <a:prstGeom prst="rect">
            <a:avLst/>
          </a:prstGeom>
        </p:spPr>
      </p:pic>
      <p:pic>
        <p:nvPicPr>
          <p:cNvPr id="7" name="Picture 6">
            <a:extLst>
              <a:ext uri="{FF2B5EF4-FFF2-40B4-BE49-F238E27FC236}">
                <a16:creationId xmlns:a16="http://schemas.microsoft.com/office/drawing/2014/main" id="{6F3EC286-2A95-4377-078B-A4E658A3D144}"/>
              </a:ext>
            </a:extLst>
          </p:cNvPr>
          <p:cNvPicPr>
            <a:picLocks noChangeAspect="1"/>
          </p:cNvPicPr>
          <p:nvPr/>
        </p:nvPicPr>
        <p:blipFill>
          <a:blip r:embed="rId4"/>
          <a:stretch>
            <a:fillRect/>
          </a:stretch>
        </p:blipFill>
        <p:spPr>
          <a:xfrm>
            <a:off x="6013667" y="1142033"/>
            <a:ext cx="6178333" cy="2489776"/>
          </a:xfrm>
          <a:prstGeom prst="rect">
            <a:avLst/>
          </a:prstGeom>
        </p:spPr>
      </p:pic>
    </p:spTree>
    <p:extLst>
      <p:ext uri="{BB962C8B-B14F-4D97-AF65-F5344CB8AC3E}">
        <p14:creationId xmlns:p14="http://schemas.microsoft.com/office/powerpoint/2010/main" val="83280473"/>
      </p:ext>
    </p:extLst>
  </p:cSld>
  <p:clrMapOvr>
    <a:masterClrMapping/>
  </p:clrMapOvr>
</p:sld>
</file>

<file path=ppt/theme/theme1.xml><?xml version="1.0" encoding="utf-8"?>
<a:theme xmlns:a="http://schemas.openxmlformats.org/drawingml/2006/main" name="DashVTI">
  <a:themeElements>
    <a:clrScheme name="AnalogousFromLightSeedLeftStep">
      <a:dk1>
        <a:srgbClr val="000000"/>
      </a:dk1>
      <a:lt1>
        <a:srgbClr val="FFFFFF"/>
      </a:lt1>
      <a:dk2>
        <a:srgbClr val="242A41"/>
      </a:dk2>
      <a:lt2>
        <a:srgbClr val="E8E7E2"/>
      </a:lt2>
      <a:accent1>
        <a:srgbClr val="96A0C6"/>
      </a:accent1>
      <a:accent2>
        <a:srgbClr val="7FA4BA"/>
      </a:accent2>
      <a:accent3>
        <a:srgbClr val="82ACAA"/>
      </a:accent3>
      <a:accent4>
        <a:srgbClr val="77AE94"/>
      </a:accent4>
      <a:accent5>
        <a:srgbClr val="83AF89"/>
      </a:accent5>
      <a:accent6>
        <a:srgbClr val="88AF77"/>
      </a:accent6>
      <a:hlink>
        <a:srgbClr val="8E8256"/>
      </a:hlink>
      <a:folHlink>
        <a:srgbClr val="7F7F7F"/>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084E42E705654B9CF1FB4D1B6F86C3" ma:contentTypeVersion="19" ma:contentTypeDescription="Create a new document." ma:contentTypeScope="" ma:versionID="537e09eec9479df6b3b9277a829eeea6">
  <xsd:schema xmlns:xsd="http://www.w3.org/2001/XMLSchema" xmlns:xs="http://www.w3.org/2001/XMLSchema" xmlns:p="http://schemas.microsoft.com/office/2006/metadata/properties" xmlns:ns2="cb71b97d-9a65-4f5a-80e4-73af0d9029ad" xmlns:ns3="c7bf0040-ac83-4da7-b072-3c1b65a214b3" targetNamespace="http://schemas.microsoft.com/office/2006/metadata/properties" ma:root="true" ma:fieldsID="954325e78edeaac226e03e3e0adada46" ns2:_="" ns3:_="">
    <xsd:import namespace="cb71b97d-9a65-4f5a-80e4-73af0d9029ad"/>
    <xsd:import namespace="c7bf0040-ac83-4da7-b072-3c1b65a214b3"/>
    <xsd:element name="properties">
      <xsd:complexType>
        <xsd:sequence>
          <xsd:element name="documentManagement">
            <xsd:complexType>
              <xsd:all>
                <xsd:element ref="ns2:Year" minOccurs="0"/>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CR" minOccurs="0"/>
                <xsd:element ref="ns2:MediaServiceLocation" minOccurs="0"/>
                <xsd:element ref="ns2:Tag"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71b97d-9a65-4f5a-80e4-73af0d9029ad" elementFormDefault="qualified">
    <xsd:import namespace="http://schemas.microsoft.com/office/2006/documentManagement/types"/>
    <xsd:import namespace="http://schemas.microsoft.com/office/infopath/2007/PartnerControls"/>
    <xsd:element name="Year" ma:index="8" nillable="true" ma:displayName="Year" ma:format="Dropdown" ma:internalName="Yea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ee6c04-f50c-48a2-8aad-e6d71caf9b84"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Tag" ma:index="23" nillable="true" ma:displayName="Tag" ma:format="Dropdown" ma:indexed="true" ma:internalName="Tag">
      <xsd:simpleType>
        <xsd:restriction base="dms:Choice">
          <xsd:enumeration value="RGE"/>
          <xsd:enumeration value="Short Course"/>
          <xsd:enumeration value="Full Course"/>
        </xsd:restriction>
      </xsd:simpleType>
    </xsd:element>
    <xsd:element name="Status" ma:index="24" nillable="true" ma:displayName="Status" ma:format="Dropdown" ma:indexed="true" ma:internalName="Status">
      <xsd:simpleType>
        <xsd:restriction base="dms:Choice">
          <xsd:enumeration value="In Development"/>
          <xsd:enumeration value="Active"/>
          <xsd:enumeration value="In Review"/>
          <xsd:enumeration value="Closed"/>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f0040-ac83-4da7-b072-3c1b65a214b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b1ddd0b-41e2-44a6-9b01-a6fda7cf7cf7}" ma:internalName="TaxCatchAll" ma:showField="CatchAllData" ma:web="c7bf0040-ac83-4da7-b072-3c1b65a214b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b71b97d-9a65-4f5a-80e4-73af0d9029ad">
      <Terms xmlns="http://schemas.microsoft.com/office/infopath/2007/PartnerControls"/>
    </lcf76f155ced4ddcb4097134ff3c332f>
    <TaxCatchAll xmlns="c7bf0040-ac83-4da7-b072-3c1b65a214b3" xsi:nil="true"/>
    <Status xmlns="cb71b97d-9a65-4f5a-80e4-73af0d9029ad" xsi:nil="true"/>
    <Tag xmlns="cb71b97d-9a65-4f5a-80e4-73af0d9029ad" xsi:nil="true"/>
    <Year xmlns="cb71b97d-9a65-4f5a-80e4-73af0d9029ad" xsi:nil="true"/>
  </documentManagement>
</p:properties>
</file>

<file path=customXml/itemProps1.xml><?xml version="1.0" encoding="utf-8"?>
<ds:datastoreItem xmlns:ds="http://schemas.openxmlformats.org/officeDocument/2006/customXml" ds:itemID="{FE333F42-FFBA-4D39-81DC-C33E6413E0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71b97d-9a65-4f5a-80e4-73af0d9029ad"/>
    <ds:schemaRef ds:uri="c7bf0040-ac83-4da7-b072-3c1b65a214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184BDE-BCF0-4A4C-AF39-985C7EC788E7}">
  <ds:schemaRefs>
    <ds:schemaRef ds:uri="http://schemas.microsoft.com/sharepoint/v3/contenttype/forms"/>
  </ds:schemaRefs>
</ds:datastoreItem>
</file>

<file path=customXml/itemProps3.xml><?xml version="1.0" encoding="utf-8"?>
<ds:datastoreItem xmlns:ds="http://schemas.openxmlformats.org/officeDocument/2006/customXml" ds:itemID="{E08E5A13-F6C9-49DB-8950-2EE5509C8A8B}">
  <ds:schemaRefs>
    <ds:schemaRef ds:uri="http://www.w3.org/XML/1998/namespace"/>
    <ds:schemaRef ds:uri="http://schemas.microsoft.com/office/2006/metadata/properties"/>
    <ds:schemaRef ds:uri="http://purl.org/dc/dcmityp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purl.org/dc/terms/"/>
    <ds:schemaRef ds:uri="c7bf0040-ac83-4da7-b072-3c1b65a214b3"/>
    <ds:schemaRef ds:uri="cb71b97d-9a65-4f5a-80e4-73af0d9029ad"/>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1943</TotalTime>
  <Words>2135</Words>
  <Application>Microsoft Office PowerPoint</Application>
  <PresentationFormat>Widescreen</PresentationFormat>
  <Paragraphs>132</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Grandview Display</vt:lpstr>
      <vt:lpstr>DashVTI</vt:lpstr>
      <vt:lpstr>TechGear Inc. Business Data Analysis</vt:lpstr>
      <vt:lpstr>Data Exploration and Summary</vt:lpstr>
      <vt:lpstr>Python code snippets</vt:lpstr>
      <vt:lpstr>Visualizing Relationships</vt:lpstr>
      <vt:lpstr>Python code snippets</vt:lpstr>
      <vt:lpstr>Python code snippets</vt:lpstr>
      <vt:lpstr>Simple Linear Regression</vt:lpstr>
      <vt:lpstr>Python code snippets</vt:lpstr>
      <vt:lpstr>Assessing Model Fit </vt:lpstr>
      <vt:lpstr>Python code snippets</vt:lpstr>
      <vt:lpstr>Multiple Linear Regression</vt:lpstr>
      <vt:lpstr>Python code snippets</vt:lpstr>
      <vt:lpstr>Forecasting </vt:lpstr>
      <vt:lpstr>Python code snippets</vt:lpstr>
      <vt:lpstr>Python code snippets</vt:lpstr>
      <vt:lpstr>Machine Learning Models </vt:lpstr>
      <vt:lpstr>Python code snippets</vt:lpstr>
      <vt:lpstr>Python code snippets</vt:lpstr>
      <vt:lpstr>Monte Carlo Simulation </vt:lpstr>
      <vt:lpstr>Python code snippets</vt:lpstr>
      <vt:lpstr>Python code snippets</vt:lpstr>
      <vt:lpstr>Linear Programming </vt:lpstr>
      <vt:lpstr>Python code snippets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Estremera, Melissa</dc:creator>
  <cp:lastModifiedBy>Elena P</cp:lastModifiedBy>
  <cp:revision>174</cp:revision>
  <dcterms:created xsi:type="dcterms:W3CDTF">2025-02-19T20:00:41Z</dcterms:created>
  <dcterms:modified xsi:type="dcterms:W3CDTF">2025-11-15T23:17:57Z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0x010100DD084E42E705654B9CF1FB4D1B6F86C3</vt:lpwstr>
  </property>
  <property fmtid="{D5CDD505-2E9C-101B-9397-08002B2CF9AE}" pid="3" name="MediaServiceImageTags">
    <vt:lpwstr/>
  </property>
</Properties>
</file>